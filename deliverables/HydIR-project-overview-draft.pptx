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ydIR"/>
          <p:cNvSpPr txBox="1"/>
          <p:nvPr/>
        </p:nvSpPr>
        <p:spPr>
          <a:xfrm>
            <a:off x="1270000" y="1422400"/>
            <a:ext cx="6604000" cy="6731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3500" b="0" i="0">
                <a:solidFill>
                  <a:srgbClr val="242424"/>
                </a:solidFill>
                <a:latin typeface="Arial"/>
              </a:rPr>
              <a:t xml:space="preserve">HydIR</a:t>
            </a:r>
            <a:endParaRPr lang="en-US" sz="3500"/>
          </a:p>
        </p:txBody>
      </p:sp>
      <p:sp>
        <p:nvSpPr>
          <p:cNvPr id="3" name="A binary lifting workbench for x"/>
          <p:cNvSpPr txBox="1"/>
          <p:nvPr/>
        </p:nvSpPr>
        <p:spPr>
          <a:xfrm>
            <a:off x="1079500" y="2235200"/>
            <a:ext cx="6985000" cy="5715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2000" b="0" i="0">
                <a:solidFill>
                  <a:srgbClr val="404040"/>
                </a:solidFill>
                <a:latin typeface="Arial"/>
              </a:rPr>
              <a:t xml:space="preserve">A binary lifting workbench for x86-64 ELF</a:t>
            </a:r>
            <a:endParaRPr lang="en-US" sz="2000"/>
          </a:p>
        </p:txBody>
      </p:sp>
      <p:sp>
        <p:nvSpPr>
          <p:cNvPr id="4" name="Project overview  ·  September 2"/>
          <p:cNvSpPr txBox="1"/>
          <p:nvPr/>
        </p:nvSpPr>
        <p:spPr>
          <a:xfrm>
            <a:off x="1524000" y="3530600"/>
            <a:ext cx="60960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1150" b="0" i="0">
                <a:solidFill>
                  <a:srgbClr val="707070"/>
                </a:solidFill>
                <a:latin typeface="Arial"/>
              </a:rPr>
              <a:t xml:space="preserve">Project overview  ·  September 2026</a:t>
            </a:r>
            <a:endParaRPr lang="en-US" sz="115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ject goal"/>
          <p:cNvSpPr txBox="1"/>
          <p:nvPr/>
        </p:nvSpPr>
        <p:spPr>
          <a:xfrm>
            <a:off x="393700" y="368300"/>
            <a:ext cx="8382000" cy="533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2400" b="0" i="0">
                <a:solidFill>
                  <a:srgbClr val="222222"/>
                </a:solidFill>
                <a:latin typeface="Arial"/>
              </a:rPr>
              <a:t xml:space="preserve">Project goal</a:t>
            </a:r>
            <a:endParaRPr lang="en-US" sz="2400"/>
          </a:p>
        </p:txBody>
      </p:sp>
      <p:sp>
        <p:nvSpPr>
          <p:cNvPr id="3" name="Connect machine bytes to inspect"/>
          <p:cNvSpPr txBox="1"/>
          <p:nvPr/>
        </p:nvSpPr>
        <p:spPr>
          <a:xfrm>
            <a:off x="546100" y="1168400"/>
            <a:ext cx="8001000" cy="660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2100" b="0" i="0">
                <a:solidFill>
                  <a:srgbClr val="242424"/>
                </a:solidFill>
                <a:latin typeface="Arial"/>
              </a:rPr>
              <a:t xml:space="preserve">Connect machine bytes to inspectable, testable program artifacts.</a:t>
            </a:r>
            <a:endParaRPr lang="en-US" sz="2100"/>
          </a:p>
        </p:txBody>
      </p:sp>
      <p:sp>
        <p:nvSpPr>
          <p:cNvPr id="4" name="–  Recover the reachable instruc"/>
          <p:cNvSpPr txBox="1"/>
          <p:nvPr/>
        </p:nvSpPr>
        <p:spPr>
          <a:xfrm>
            <a:off x="546100" y="2209800"/>
            <a:ext cx="8001000" cy="660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700" b="0" i="0">
                <a:solidFill>
                  <a:srgbClr val="333333"/>
                </a:solidFill>
                <a:latin typeface="Arial"/>
              </a:rPr>
              <a:t xml:space="preserve">–  Recover the reachable instructions and control flow of a selected function.</a:t>
            </a:r>
            <a:endParaRPr lang="en-US" sz="1700"/>
          </a:p>
        </p:txBody>
      </p:sp>
      <p:sp>
        <p:nvSpPr>
          <p:cNvPr id="5" name="–  Lift supported scalar code to"/>
          <p:cNvSpPr txBox="1"/>
          <p:nvPr/>
        </p:nvSpPr>
        <p:spPr>
          <a:xfrm>
            <a:off x="546100" y="2870200"/>
            <a:ext cx="8001000" cy="660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700" b="0" i="0">
                <a:solidFill>
                  <a:srgbClr val="333333"/>
                </a:solidFill>
                <a:latin typeface="Arial"/>
              </a:rPr>
              <a:t xml:space="preserve">–  Lift supported scalar code to LLVM IR and emit readable C.</a:t>
            </a:r>
            <a:endParaRPr lang="en-US" sz="1700"/>
          </a:p>
        </p:txBody>
      </p:sp>
      <p:sp>
        <p:nvSpPr>
          <p:cNvPr id="6" name="–  Check trusted results against"/>
          <p:cNvSpPr txBox="1"/>
          <p:nvPr/>
        </p:nvSpPr>
        <p:spPr>
          <a:xfrm>
            <a:off x="546100" y="3530600"/>
            <a:ext cx="8001000" cy="660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700" b="0" i="0">
                <a:solidFill>
                  <a:srgbClr val="333333"/>
                </a:solidFill>
                <a:latin typeface="Arial"/>
              </a:rPr>
              <a:t xml:space="preserve">–  Check trusted results against native execution on Linux x86-64.</a:t>
            </a:r>
            <a:endParaRPr lang="en-US" sz="17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hat HydIR does today"/>
          <p:cNvSpPr txBox="1"/>
          <p:nvPr/>
        </p:nvSpPr>
        <p:spPr>
          <a:xfrm>
            <a:off x="393700" y="368300"/>
            <a:ext cx="8382000" cy="533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2400" b="0" i="0">
                <a:solidFill>
                  <a:srgbClr val="222222"/>
                </a:solidFill>
                <a:latin typeface="Arial"/>
              </a:rPr>
              <a:t xml:space="preserve">What HydIR does today</a:t>
            </a:r>
            <a:endParaRPr lang="en-US" sz="2400"/>
          </a:p>
        </p:txBody>
      </p:sp>
      <p:sp>
        <p:nvSpPr>
          <p:cNvPr id="3" name="–  Imports little-endian x86-64 "/>
          <p:cNvSpPr txBox="1"/>
          <p:nvPr/>
        </p:nvSpPr>
        <p:spPr>
          <a:xfrm>
            <a:off x="546100" y="1181100"/>
            <a:ext cx="8001000" cy="660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700" b="0" i="0">
                <a:solidFill>
                  <a:srgbClr val="333333"/>
                </a:solidFill>
                <a:latin typeface="Arial"/>
              </a:rPr>
              <a:t xml:space="preserve">–  Imports little-endian x86-64 ELF and reports symbol and segment facts.</a:t>
            </a:r>
            <a:endParaRPr lang="en-US" sz="1700"/>
          </a:p>
        </p:txBody>
      </p:sp>
      <p:sp>
        <p:nvSpPr>
          <p:cNvPr id="4" name="–  Shows disassembly and a contr"/>
          <p:cNvSpPr txBox="1"/>
          <p:nvPr/>
        </p:nvSpPr>
        <p:spPr>
          <a:xfrm>
            <a:off x="546100" y="1854200"/>
            <a:ext cx="8001000" cy="762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700" b="0" i="0">
                <a:solidFill>
                  <a:srgbClr val="333333"/>
                </a:solidFill>
                <a:latin typeface="Arial"/>
              </a:rPr>
              <a:t xml:space="preserve">–  Shows disassembly and a control-flow graph with explicit uncertainty for uncovered bytes.</a:t>
            </a:r>
            <a:endParaRPr lang="en-US" sz="1700"/>
          </a:p>
        </p:txBody>
      </p:sp>
      <p:sp>
        <p:nvSpPr>
          <p:cNvPr id="5" name="–  Lifts a bounded scalar instru"/>
          <p:cNvSpPr txBox="1"/>
          <p:nvPr/>
        </p:nvSpPr>
        <p:spPr>
          <a:xfrm>
            <a:off x="546100" y="2667000"/>
            <a:ext cx="8001000" cy="660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700" b="0" i="0">
                <a:solidFill>
                  <a:srgbClr val="333333"/>
                </a:solidFill>
                <a:latin typeface="Arial"/>
              </a:rPr>
              <a:t xml:space="preserve">–  Lifts a bounded scalar instruction subset to LLVM IR and scalar C.</a:t>
            </a:r>
            <a:endParaRPr lang="en-US" sz="1700"/>
          </a:p>
        </p:txBody>
      </p:sp>
      <p:sp>
        <p:nvSpPr>
          <p:cNvPr id="6" name="–  Exposes the work through a CL"/>
          <p:cNvSpPr txBox="1"/>
          <p:nvPr/>
        </p:nvSpPr>
        <p:spPr>
          <a:xfrm>
            <a:off x="546100" y="3365500"/>
            <a:ext cx="8001000" cy="762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700" b="0" i="0">
                <a:solidFill>
                  <a:srgbClr val="333333"/>
                </a:solidFill>
                <a:latin typeface="Arial"/>
              </a:rPr>
              <a:t xml:space="preserve">–  Exposes the work through a CLI, desktop GUI, loopback service, and Python SDK.</a:t>
            </a:r>
            <a:endParaRPr lang="en-US" sz="17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w a function moves through Hyd"/>
          <p:cNvSpPr txBox="1"/>
          <p:nvPr/>
        </p:nvSpPr>
        <p:spPr>
          <a:xfrm>
            <a:off x="393700" y="368300"/>
            <a:ext cx="8382000" cy="533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2400" b="0" i="0">
                <a:solidFill>
                  <a:srgbClr val="222222"/>
                </a:solidFill>
                <a:latin typeface="Arial"/>
              </a:rPr>
              <a:t xml:space="preserve">How a function moves through HydIR</a:t>
            </a:r>
            <a:endParaRPr lang="en-US" sz="2400"/>
          </a:p>
        </p:txBody>
      </p:sp>
      <p:sp>
        <p:nvSpPr>
          <p:cNvPr id="3" name="ELF bytes"/>
          <p:cNvSpPr txBox="1"/>
          <p:nvPr/>
        </p:nvSpPr>
        <p:spPr>
          <a:xfrm>
            <a:off x="431800" y="1968500"/>
            <a:ext cx="1600200" cy="4699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2000" b="1" i="0">
                <a:solidFill>
                  <a:srgbClr val="242424"/>
                </a:solidFill>
                <a:latin typeface="Arial"/>
              </a:rPr>
              <a:t xml:space="preserve">ELF bytes</a:t>
            </a:r>
            <a:endParaRPr lang="en-US" sz="2000"/>
          </a:p>
        </p:txBody>
      </p:sp>
      <p:sp>
        <p:nvSpPr>
          <p:cNvPr id="4" name="→"/>
          <p:cNvSpPr txBox="1"/>
          <p:nvPr/>
        </p:nvSpPr>
        <p:spPr>
          <a:xfrm>
            <a:off x="2032000" y="1955800"/>
            <a:ext cx="571500" cy="4699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2400" b="0" i="0">
                <a:solidFill>
                  <a:srgbClr val="7A7A7A"/>
                </a:solidFill>
                <a:latin typeface="Arial"/>
              </a:rPr>
              <a:t xml:space="preserve">→</a:t>
            </a:r>
            <a:endParaRPr lang="en-US" sz="2400"/>
          </a:p>
        </p:txBody>
      </p:sp>
      <p:sp>
        <p:nvSpPr>
          <p:cNvPr id="5" name="CFG"/>
          <p:cNvSpPr txBox="1"/>
          <p:nvPr/>
        </p:nvSpPr>
        <p:spPr>
          <a:xfrm>
            <a:off x="2590800" y="1968500"/>
            <a:ext cx="1346200" cy="4699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2000" b="1" i="0">
                <a:solidFill>
                  <a:srgbClr val="242424"/>
                </a:solidFill>
                <a:latin typeface="Arial"/>
              </a:rPr>
              <a:t xml:space="preserve">CFG</a:t>
            </a:r>
            <a:endParaRPr lang="en-US" sz="2000"/>
          </a:p>
        </p:txBody>
      </p:sp>
      <p:sp>
        <p:nvSpPr>
          <p:cNvPr id="6" name="→"/>
          <p:cNvSpPr txBox="1"/>
          <p:nvPr/>
        </p:nvSpPr>
        <p:spPr>
          <a:xfrm>
            <a:off x="3937000" y="1955800"/>
            <a:ext cx="571500" cy="4699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2400" b="0" i="0">
                <a:solidFill>
                  <a:srgbClr val="7A7A7A"/>
                </a:solidFill>
                <a:latin typeface="Arial"/>
              </a:rPr>
              <a:t xml:space="preserve">→</a:t>
            </a:r>
            <a:endParaRPr lang="en-US" sz="2400"/>
          </a:p>
        </p:txBody>
      </p:sp>
      <p:sp>
        <p:nvSpPr>
          <p:cNvPr id="7" name="LLVM IR"/>
          <p:cNvSpPr txBox="1"/>
          <p:nvPr/>
        </p:nvSpPr>
        <p:spPr>
          <a:xfrm>
            <a:off x="4495800" y="1968500"/>
            <a:ext cx="1574800" cy="4699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2000" b="1" i="0">
                <a:solidFill>
                  <a:srgbClr val="242424"/>
                </a:solidFill>
                <a:latin typeface="Arial"/>
              </a:rPr>
              <a:t xml:space="preserve">LLVM IR</a:t>
            </a:r>
            <a:endParaRPr lang="en-US" sz="2000"/>
          </a:p>
        </p:txBody>
      </p:sp>
      <p:sp>
        <p:nvSpPr>
          <p:cNvPr id="8" name="→"/>
          <p:cNvSpPr txBox="1"/>
          <p:nvPr/>
        </p:nvSpPr>
        <p:spPr>
          <a:xfrm>
            <a:off x="6070600" y="1955800"/>
            <a:ext cx="571500" cy="4699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2400" b="0" i="0">
                <a:solidFill>
                  <a:srgbClr val="7A7A7A"/>
                </a:solidFill>
                <a:latin typeface="Arial"/>
              </a:rPr>
              <a:t xml:space="preserve">→</a:t>
            </a:r>
            <a:endParaRPr lang="en-US" sz="2400"/>
          </a:p>
        </p:txBody>
      </p:sp>
      <p:sp>
        <p:nvSpPr>
          <p:cNvPr id="9" name="Scalar C"/>
          <p:cNvSpPr txBox="1"/>
          <p:nvPr/>
        </p:nvSpPr>
        <p:spPr>
          <a:xfrm>
            <a:off x="6667500" y="1968500"/>
            <a:ext cx="1968500" cy="4699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2000" b="1" i="0">
                <a:solidFill>
                  <a:srgbClr val="242424"/>
                </a:solidFill>
                <a:latin typeface="Arial"/>
              </a:rPr>
              <a:t xml:space="preserve">Scalar C</a:t>
            </a:r>
            <a:endParaRPr lang="en-US" sz="2000"/>
          </a:p>
        </p:txBody>
      </p:sp>
      <p:sp>
        <p:nvSpPr>
          <p:cNvPr id="10" name="The recovered CFG keeps branch t"/>
          <p:cNvSpPr txBox="1"/>
          <p:nvPr/>
        </p:nvSpPr>
        <p:spPr>
          <a:xfrm>
            <a:off x="698500" y="3022600"/>
            <a:ext cx="7747000" cy="533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1600" b="0" i="0">
                <a:solidFill>
                  <a:srgbClr val="4B4B4B"/>
                </a:solidFill>
                <a:latin typeface="Arial"/>
              </a:rPr>
              <a:t xml:space="preserve">The recovered CFG keeps branch targets tied to instruction boundaries.</a:t>
            </a:r>
            <a:endParaRPr lang="en-US" sz="1600"/>
          </a:p>
        </p:txBody>
      </p:sp>
      <p:sp>
        <p:nvSpPr>
          <p:cNvPr id="11" name="Trusted fixtures add LLVM verifi"/>
          <p:cNvSpPr txBox="1"/>
          <p:nvPr/>
        </p:nvSpPr>
        <p:spPr>
          <a:xfrm>
            <a:off x="698500" y="3657600"/>
            <a:ext cx="7747000" cy="533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1600" b="0" i="0">
                <a:solidFill>
                  <a:srgbClr val="4B4B4B"/>
                </a:solidFill>
                <a:latin typeface="Arial"/>
              </a:rPr>
              <a:t xml:space="preserve">Trusted fixtures add LLVM verification and native execution comparison.</a:t>
            </a:r>
            <a:endParaRPr lang="en-US" sz="16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ne example: unsigned max"/>
          <p:cNvSpPr txBox="1"/>
          <p:nvPr/>
        </p:nvSpPr>
        <p:spPr>
          <a:xfrm>
            <a:off x="393700" y="368300"/>
            <a:ext cx="8382000" cy="533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2400" b="0" i="0">
                <a:solidFill>
                  <a:srgbClr val="222222"/>
                </a:solidFill>
                <a:latin typeface="Arial"/>
              </a:rPr>
              <a:t xml:space="preserve">One example: unsigned max</a:t>
            </a:r>
            <a:endParaRPr lang="en-US" sz="2400"/>
          </a:p>
        </p:txBody>
      </p:sp>
      <p:sp>
        <p:nvSpPr>
          <p:cNvPr id="3" name="x86-64 assembly"/>
          <p:cNvSpPr txBox="1"/>
          <p:nvPr/>
        </p:nvSpPr>
        <p:spPr>
          <a:xfrm>
            <a:off x="508000" y="1041400"/>
            <a:ext cx="37465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500" b="0" i="0">
                <a:solidFill>
                  <a:srgbClr val="505050"/>
                </a:solidFill>
                <a:latin typeface="Arial"/>
              </a:rPr>
              <a:t xml:space="preserve">x86-64 assembly</a:t>
            </a:r>
            <a:endParaRPr lang="en-US" sz="1500"/>
          </a:p>
        </p:txBody>
      </p:sp>
      <p:sp>
        <p:nvSpPr>
          <p:cNvPr id="4" name="HydIR scalar C"/>
          <p:cNvSpPr txBox="1"/>
          <p:nvPr/>
        </p:nvSpPr>
        <p:spPr>
          <a:xfrm>
            <a:off x="4978400" y="1041400"/>
            <a:ext cx="3746500" cy="381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500" b="0" i="0">
                <a:solidFill>
                  <a:srgbClr val="505050"/>
                </a:solidFill>
                <a:latin typeface="Arial"/>
              </a:rPr>
              <a:t xml:space="preserve">HydIR scalar C</a:t>
            </a:r>
            <a:endParaRPr lang="en-US" sz="1500"/>
          </a:p>
        </p:txBody>
      </p:sp>
      <p:sp>
        <p:nvSpPr>
          <p:cNvPr id="5" name="Rectangle"/>
          <p:cNvSpPr/>
          <p:nvPr/>
        </p:nvSpPr>
        <p:spPr>
          <a:xfrm>
            <a:off x="431800" y="1435100"/>
            <a:ext cx="4025900" cy="2743200"/>
          </a:xfrm>
          <a:prstGeom prst="rect">
            <a:avLst/>
          </a:prstGeom>
          <a:solidFill>
            <a:srgbClr val="282A36"/>
          </a:solidFill>
          <a:ln>
            <a:noFill/>
          </a:ln>
        </p:spPr>
      </p:sp>
      <p:sp>
        <p:nvSpPr>
          <p:cNvPr id="6" name="Rectangle"/>
          <p:cNvSpPr/>
          <p:nvPr/>
        </p:nvSpPr>
        <p:spPr>
          <a:xfrm>
            <a:off x="4876800" y="1435100"/>
            <a:ext cx="3835400" cy="2743200"/>
          </a:xfrm>
          <a:prstGeom prst="rect">
            <a:avLst/>
          </a:prstGeom>
          <a:solidFill>
            <a:srgbClr val="282A36"/>
          </a:solidFill>
          <a:ln>
            <a:noFill/>
          </a:ln>
        </p:spPr>
      </p:sp>
      <p:sp>
        <p:nvSpPr>
          <p:cNvPr id="7" name="hydir_max2:   movq %rdi, %rax   "/>
          <p:cNvSpPr txBox="1"/>
          <p:nvPr/>
        </p:nvSpPr>
        <p:spPr>
          <a:xfrm>
            <a:off x="635000" y="1676400"/>
            <a:ext cx="3594100" cy="23241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500" b="0" i="0">
                <a:solidFill>
                  <a:srgbClr val="EDEDED"/>
                </a:solidFill>
                <a:latin typeface="Consolas"/>
              </a:rPr>
              <a:t xml:space="preserve">hydir_max2:</a:t>
            </a:r>
            <a:endParaRPr lang="en-US" sz="1500"/>
          </a:p>
          <a:p>
            <a:pPr algn="l"/>
            <a:r>
              <a:rPr lang="en-US" sz="1500" b="0" i="0">
                <a:solidFill>
                  <a:srgbClr val="EDEDED"/>
                </a:solidFill>
                <a:latin typeface="Consolas"/>
              </a:rPr>
              <a:t xml:space="preserve">  movq %rdi, %rax</a:t>
            </a:r>
            <a:endParaRPr lang="en-US" sz="1500"/>
          </a:p>
          <a:p>
            <a:pPr algn="l"/>
            <a:r>
              <a:rPr lang="en-US" sz="1500" b="0" i="0">
                <a:solidFill>
                  <a:srgbClr val="EDEDED"/>
                </a:solidFill>
                <a:latin typeface="Consolas"/>
              </a:rPr>
              <a:t xml:space="preserve">  cmpq %rsi, %rdi</a:t>
            </a:r>
            <a:endParaRPr lang="en-US" sz="1500"/>
          </a:p>
          <a:p>
            <a:pPr algn="l"/>
            <a:r>
              <a:rPr lang="en-US" sz="1500" b="0" i="0">
                <a:solidFill>
                  <a:srgbClr val="EDEDED"/>
                </a:solidFill>
                <a:latin typeface="Consolas"/>
              </a:rPr>
              <a:t xml:space="preserve">  jae .Ldone</a:t>
            </a:r>
            <a:endParaRPr lang="en-US" sz="1500"/>
          </a:p>
          <a:p>
            <a:pPr algn="l"/>
            <a:r>
              <a:rPr lang="en-US" sz="1500" b="0" i="0">
                <a:solidFill>
                  <a:srgbClr val="EDEDED"/>
                </a:solidFill>
                <a:latin typeface="Consolas"/>
              </a:rPr>
              <a:t xml:space="preserve">  movq %rsi, %rax</a:t>
            </a:r>
            <a:endParaRPr lang="en-US" sz="1500"/>
          </a:p>
          <a:p>
            <a:pPr algn="l"/>
            <a:r>
              <a:rPr lang="en-US" sz="1500" b="0" i="0">
                <a:solidFill>
                  <a:srgbClr val="EDEDED"/>
                </a:solidFill>
                <a:latin typeface="Consolas"/>
              </a:rPr>
              <a:t xml:space="preserve">.Ldone:</a:t>
            </a:r>
            <a:endParaRPr lang="en-US" sz="1500"/>
          </a:p>
          <a:p>
            <a:pPr algn="l"/>
            <a:r>
              <a:rPr lang="en-US" sz="1500" b="0" i="0">
                <a:solidFill>
                  <a:srgbClr val="EDEDED"/>
                </a:solidFill>
                <a:latin typeface="Consolas"/>
              </a:rPr>
              <a:t xml:space="preserve">  ret</a:t>
            </a:r>
            <a:endParaRPr lang="en-US" sz="1500"/>
          </a:p>
        </p:txBody>
      </p:sp>
      <p:sp>
        <p:nvSpPr>
          <p:cNvPr id="8" name="uint64_t hydir_lifted(     uint6"/>
          <p:cNvSpPr txBox="1"/>
          <p:nvPr/>
        </p:nvSpPr>
        <p:spPr>
          <a:xfrm>
            <a:off x="5067300" y="1701800"/>
            <a:ext cx="3441700" cy="23241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470" b="0" i="0">
                <a:solidFill>
                  <a:srgbClr val="EDEDED"/>
                </a:solidFill>
                <a:latin typeface="Consolas"/>
              </a:rPr>
              <a:t xml:space="preserve">uint64_t hydir_lifted(</a:t>
            </a:r>
            <a:endParaRPr lang="en-US" sz="1470"/>
          </a:p>
          <a:p>
            <a:pPr algn="l"/>
            <a:r>
              <a:rPr lang="en-US" sz="1470" b="0" i="0">
                <a:solidFill>
                  <a:srgbClr val="EDEDED"/>
                </a:solidFill>
                <a:latin typeface="Consolas"/>
              </a:rPr>
              <a:t xml:space="preserve">    uint64_t arg0,</a:t>
            </a:r>
            <a:endParaRPr lang="en-US" sz="1470"/>
          </a:p>
          <a:p>
            <a:pPr algn="l"/>
            <a:r>
              <a:rPr lang="en-US" sz="1470" b="0" i="0">
                <a:solidFill>
                  <a:srgbClr val="EDEDED"/>
                </a:solidFill>
                <a:latin typeface="Consolas"/>
              </a:rPr>
              <a:t xml:space="preserve">    uint64_t arg1) {</a:t>
            </a:r>
            <a:endParaRPr lang="en-US" sz="1470"/>
          </a:p>
          <a:p>
            <a:pPr algn="l"/>
            <a:r>
              <a:rPr lang="en-US" sz="1470" b="0" i="0">
                <a:solidFill>
                  <a:srgbClr val="EDEDED"/>
                </a:solidFill>
                <a:latin typeface="Consolas"/>
              </a:rPr>
              <a:t xml:space="preserve">  return arg0 &gt;= arg1</a:t>
            </a:r>
            <a:endParaRPr lang="en-US" sz="1470"/>
          </a:p>
          <a:p>
            <a:pPr algn="l"/>
            <a:r>
              <a:rPr lang="en-US" sz="1470" b="0" i="0">
                <a:solidFill>
                  <a:srgbClr val="EDEDED"/>
                </a:solidFill>
                <a:latin typeface="Consolas"/>
              </a:rPr>
              <a:t xml:space="preserve">    ? arg0 : arg1;</a:t>
            </a:r>
            <a:endParaRPr lang="en-US" sz="1470"/>
          </a:p>
          <a:p>
            <a:pPr algn="l"/>
            <a:r>
              <a:rPr lang="en-US" sz="1470" b="0" i="0">
                <a:solidFill>
                  <a:srgbClr val="EDEDED"/>
                </a:solidFill>
                <a:latin typeface="Consolas"/>
              </a:rPr>
              <a:t xml:space="preserve">}</a:t>
            </a:r>
            <a:endParaRPr lang="en-US" sz="1470"/>
          </a:p>
        </p:txBody>
      </p:sp>
      <p:sp>
        <p:nvSpPr>
          <p:cNvPr id="9" name="Source: tests/fixtures/max2.S an"/>
          <p:cNvSpPr txBox="1"/>
          <p:nvPr/>
        </p:nvSpPr>
        <p:spPr>
          <a:xfrm>
            <a:off x="508000" y="4457700"/>
            <a:ext cx="8166100" cy="3048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050" b="0" i="0">
                <a:solidFill>
                  <a:srgbClr val="666666"/>
                </a:solidFill>
                <a:latin typeface="Arial"/>
              </a:rPr>
              <a:t xml:space="preserve">Source: tests/fixtures/max2.S and target/demo-video/max2-structured.c</a:t>
            </a:r>
            <a:endParaRPr lang="en-US" sz="105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sktop workbench"/>
          <p:cNvSpPr txBox="1"/>
          <p:nvPr/>
        </p:nvSpPr>
        <p:spPr>
          <a:xfrm>
            <a:off x="393700" y="368300"/>
            <a:ext cx="8382000" cy="533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2400" b="0" i="0">
                <a:solidFill>
                  <a:srgbClr val="222222"/>
                </a:solidFill>
                <a:latin typeface="Arial"/>
              </a:rPr>
              <a:t xml:space="preserve">Desktop workbench</a:t>
            </a:r>
            <a:endParaRPr lang="en-US" sz="2400"/>
          </a:p>
        </p:txBody>
      </p:sp>
      <p:sp>
        <p:nvSpPr>
          <p:cNvPr id="3" name="–  Open a local ELF and browse f"/>
          <p:cNvSpPr txBox="1"/>
          <p:nvPr/>
        </p:nvSpPr>
        <p:spPr>
          <a:xfrm>
            <a:off x="546100" y="1219200"/>
            <a:ext cx="8001000" cy="660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700" b="0" i="0">
                <a:solidFill>
                  <a:srgbClr val="333333"/>
                </a:solidFill>
                <a:latin typeface="Arial"/>
              </a:rPr>
              <a:t xml:space="preserve">–  Open a local ELF and browse function facts without uploading the binary.</a:t>
            </a:r>
            <a:endParaRPr lang="en-US" sz="1700"/>
          </a:p>
        </p:txBody>
      </p:sp>
      <p:sp>
        <p:nvSpPr>
          <p:cNvPr id="4" name="–  Inspect reachable disassembly"/>
          <p:cNvSpPr txBox="1"/>
          <p:nvPr/>
        </p:nvSpPr>
        <p:spPr>
          <a:xfrm>
            <a:off x="546100" y="1968500"/>
            <a:ext cx="8001000" cy="8255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700" b="0" i="0">
                <a:solidFill>
                  <a:srgbClr val="333333"/>
                </a:solidFill>
                <a:latin typeface="Arial"/>
              </a:rPr>
              <a:t xml:space="preserve">–  Inspect reachable disassembly, CFG, LLVM IR, scalar C, assumptions, and diagnostics.</a:t>
            </a:r>
            <a:endParaRPr lang="en-US" sz="1700"/>
          </a:p>
        </p:txBody>
      </p:sp>
      <p:sp>
        <p:nvSpPr>
          <p:cNvPr id="5" name="–  Use the Console for status, J"/>
          <p:cNvSpPr txBox="1"/>
          <p:nvPr/>
        </p:nvSpPr>
        <p:spPr>
          <a:xfrm>
            <a:off x="546100" y="2882900"/>
            <a:ext cx="8001000" cy="660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700" b="0" i="0">
                <a:solidFill>
                  <a:srgbClr val="333333"/>
                </a:solidFill>
                <a:latin typeface="Arial"/>
              </a:rPr>
              <a:t xml:space="preserve">–  Use the Console for status, JSON reports, and a restricted Triton REPL.</a:t>
            </a:r>
            <a:endParaRPr lang="en-US" sz="1700"/>
          </a:p>
        </p:txBody>
      </p:sp>
      <p:sp>
        <p:nvSpPr>
          <p:cNvPr id="6" name="–  Save pane widths and explicit"/>
          <p:cNvSpPr txBox="1"/>
          <p:nvPr/>
        </p:nvSpPr>
        <p:spPr>
          <a:xfrm>
            <a:off x="546100" y="3733800"/>
            <a:ext cx="8001000" cy="660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700" b="0" i="0">
                <a:solidFill>
                  <a:srgbClr val="333333"/>
                </a:solidFill>
                <a:latin typeface="Arial"/>
              </a:rPr>
              <a:t xml:space="preserve">–  Save pane widths and explicitly reopen the recent local ELF.</a:t>
            </a:r>
            <a:endParaRPr lang="en-US" sz="17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alidation on supported scalar c"/>
          <p:cNvSpPr txBox="1"/>
          <p:nvPr/>
        </p:nvSpPr>
        <p:spPr>
          <a:xfrm>
            <a:off x="393700" y="368300"/>
            <a:ext cx="8382000" cy="533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2400" b="0" i="0">
                <a:solidFill>
                  <a:srgbClr val="222222"/>
                </a:solidFill>
                <a:latin typeface="Arial"/>
              </a:rPr>
              <a:t xml:space="preserve">Validation on supported scalar code</a:t>
            </a:r>
            <a:endParaRPr lang="en-US" sz="2400"/>
          </a:p>
        </p:txBody>
      </p:sp>
      <p:sp>
        <p:nvSpPr>
          <p:cNvPr id="3" name="20"/>
          <p:cNvSpPr txBox="1"/>
          <p:nvPr/>
        </p:nvSpPr>
        <p:spPr>
          <a:xfrm>
            <a:off x="762000" y="1422400"/>
            <a:ext cx="3175000" cy="127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7000" b="0" i="0">
                <a:solidFill>
                  <a:srgbClr val="222222"/>
                </a:solidFill>
                <a:latin typeface="Arial"/>
              </a:rPr>
              <a:t xml:space="preserve">20</a:t>
            </a:r>
            <a:endParaRPr lang="en-US" sz="7000"/>
          </a:p>
        </p:txBody>
      </p:sp>
      <p:sp>
        <p:nvSpPr>
          <p:cNvPr id="4" name="distinct scalar functions"/>
          <p:cNvSpPr txBox="1"/>
          <p:nvPr/>
        </p:nvSpPr>
        <p:spPr>
          <a:xfrm>
            <a:off x="558800" y="2717800"/>
            <a:ext cx="3632200" cy="635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1800" b="0" i="0">
                <a:solidFill>
                  <a:srgbClr val="444444"/>
                </a:solidFill>
                <a:latin typeface="Arial"/>
              </a:rPr>
              <a:t xml:space="preserve">distinct scalar functions</a:t>
            </a:r>
            <a:endParaRPr lang="en-US" sz="1800"/>
          </a:p>
        </p:txBody>
      </p:sp>
      <p:sp>
        <p:nvSpPr>
          <p:cNvPr id="5" name="1,008"/>
          <p:cNvSpPr txBox="1"/>
          <p:nvPr/>
        </p:nvSpPr>
        <p:spPr>
          <a:xfrm>
            <a:off x="4902200" y="1422400"/>
            <a:ext cx="3429000" cy="1270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7000" b="0" i="0">
                <a:solidFill>
                  <a:srgbClr val="222222"/>
                </a:solidFill>
                <a:latin typeface="Arial"/>
              </a:rPr>
              <a:t xml:space="preserve">1,008</a:t>
            </a:r>
            <a:endParaRPr lang="en-US" sz="7000"/>
          </a:p>
        </p:txBody>
      </p:sp>
      <p:sp>
        <p:nvSpPr>
          <p:cNvPr id="6" name="inputs per function"/>
          <p:cNvSpPr txBox="1"/>
          <p:nvPr/>
        </p:nvSpPr>
        <p:spPr>
          <a:xfrm>
            <a:off x="4889500" y="2717800"/>
            <a:ext cx="3530600" cy="635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1800" b="0" i="0">
                <a:solidFill>
                  <a:srgbClr val="444444"/>
                </a:solidFill>
                <a:latin typeface="Arial"/>
              </a:rPr>
              <a:t xml:space="preserve">inputs per function</a:t>
            </a:r>
            <a:endParaRPr lang="en-US" sz="1800"/>
          </a:p>
        </p:txBody>
      </p:sp>
      <p:sp>
        <p:nvSpPr>
          <p:cNvPr id="7" name="The local demos compare lifted L"/>
          <p:cNvSpPr txBox="1"/>
          <p:nvPr/>
        </p:nvSpPr>
        <p:spPr>
          <a:xfrm>
            <a:off x="698500" y="3975100"/>
            <a:ext cx="7747000" cy="6985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ctr"/>
            <a:r>
              <a:rPr lang="en-US" sz="1500" b="0" i="0">
                <a:solidFill>
                  <a:srgbClr val="4A4A4A"/>
                </a:solidFill>
                <a:latin typeface="Arial"/>
              </a:rPr>
              <a:t xml:space="preserve">The local demos compare lifted LLVM and compiled C with native execution on Linux x86-64.</a:t>
            </a:r>
            <a:endParaRPr lang="en-US" sz="15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rojects, remote jobs, and edits"/>
          <p:cNvSpPr txBox="1"/>
          <p:nvPr/>
        </p:nvSpPr>
        <p:spPr>
          <a:xfrm>
            <a:off x="393700" y="368300"/>
            <a:ext cx="8382000" cy="533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2400" b="0" i="0">
                <a:solidFill>
                  <a:srgbClr val="222222"/>
                </a:solidFill>
                <a:latin typeface="Arial"/>
              </a:rPr>
              <a:t xml:space="preserve">Projects, remote jobs, and edits</a:t>
            </a:r>
            <a:endParaRPr lang="en-US" sz="2400"/>
          </a:p>
        </p:txBody>
      </p:sp>
      <p:sp>
        <p:nvSpPr>
          <p:cNvPr id="3" name="–  Local projects keep annotatio"/>
          <p:cNvSpPr txBox="1"/>
          <p:nvPr/>
        </p:nvSpPr>
        <p:spPr>
          <a:xfrm>
            <a:off x="546100" y="1193800"/>
            <a:ext cx="8001000" cy="660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700" b="0" i="0">
                <a:solidFill>
                  <a:srgbClr val="333333"/>
                </a:solidFill>
                <a:latin typeface="Arial"/>
              </a:rPr>
              <a:t xml:space="preserve">–  Local projects keep annotations in a private, path-bound SQLite ledger.</a:t>
            </a:r>
            <a:endParaRPr lang="en-US" sz="1700"/>
          </a:p>
        </p:txBody>
      </p:sp>
      <p:sp>
        <p:nvSpPr>
          <p:cNvPr id="4" name="–  Remote work uses an authentic"/>
          <p:cNvSpPr txBox="1"/>
          <p:nvPr/>
        </p:nvSpPr>
        <p:spPr>
          <a:xfrm>
            <a:off x="546100" y="1905000"/>
            <a:ext cx="8001000" cy="660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700" b="0" i="0">
                <a:solidFill>
                  <a:srgbClr val="333333"/>
                </a:solidFill>
                <a:latin typeface="Arial"/>
              </a:rPr>
              <a:t xml:space="preserve">–  Remote work uses an authenticated loopback service and explicit binary upload.</a:t>
            </a:r>
            <a:endParaRPr lang="en-US" sz="1700"/>
          </a:p>
        </p:txBody>
      </p:sp>
      <p:sp>
        <p:nvSpPr>
          <p:cNvPr id="5" name="–  Uploads and edits create immu"/>
          <p:cNvSpPr txBox="1"/>
          <p:nvPr/>
        </p:nvSpPr>
        <p:spPr>
          <a:xfrm>
            <a:off x="546100" y="2616200"/>
            <a:ext cx="8001000" cy="787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700" b="0" i="0">
                <a:solidFill>
                  <a:srgbClr val="333333"/>
                </a:solidFill>
                <a:latin typeface="Arial"/>
              </a:rPr>
              <a:t xml:space="preserve">–  Uploads and edits create immutable project revisions; jobs can be monitored or cancelled.</a:t>
            </a:r>
            <a:endParaRPr lang="en-US" sz="1700"/>
          </a:p>
        </p:txBody>
      </p:sp>
      <p:sp>
        <p:nvSpPr>
          <p:cNvPr id="6" name="–  Named LLVM passes, scalar pat"/>
          <p:cNvSpPr txBox="1"/>
          <p:nvPr/>
        </p:nvSpPr>
        <p:spPr>
          <a:xfrm>
            <a:off x="546100" y="3530600"/>
            <a:ext cx="8001000" cy="787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700" b="0" i="0">
                <a:solidFill>
                  <a:srgbClr val="333333"/>
                </a:solidFill>
                <a:latin typeface="Arial"/>
              </a:rPr>
              <a:t xml:space="preserve">–  Named LLVM passes, scalar patching, and rebuilds require separately chosen actions.</a:t>
            </a:r>
            <a:endParaRPr lang="en-US" sz="17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hole-executable recompilation s"/>
          <p:cNvSpPr txBox="1"/>
          <p:nvPr/>
        </p:nvSpPr>
        <p:spPr>
          <a:xfrm>
            <a:off x="393700" y="368300"/>
            <a:ext cx="8382000" cy="533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2400" b="0" i="0">
                <a:solidFill>
                  <a:srgbClr val="222222"/>
                </a:solidFill>
                <a:latin typeface="Arial"/>
              </a:rPr>
              <a:t xml:space="preserve">Whole-executable recompilation subset</a:t>
            </a:r>
            <a:endParaRPr lang="en-US" sz="2400"/>
          </a:p>
        </p:txBody>
      </p:sp>
      <p:sp>
        <p:nvSpPr>
          <p:cNvPr id="3" name="–  Three trusted, static freesta"/>
          <p:cNvSpPr txBox="1"/>
          <p:nvPr/>
        </p:nvSpPr>
        <p:spPr>
          <a:xfrm>
            <a:off x="546100" y="1219200"/>
            <a:ext cx="8001000" cy="660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700" b="0" i="0">
                <a:solidFill>
                  <a:srgbClr val="333333"/>
                </a:solidFill>
                <a:latin typeface="Arial"/>
              </a:rPr>
              <a:t xml:space="preserve">–  Three trusted, static freestanding ELFs exercise the current rebuild path.</a:t>
            </a:r>
            <a:endParaRPr lang="en-US" sz="1700"/>
          </a:p>
        </p:txBody>
      </p:sp>
      <p:sp>
        <p:nvSpPr>
          <p:cNvPr id="4" name="–  HydIR lifts their decoded .te"/>
          <p:cNvSpPr txBox="1"/>
          <p:nvPr/>
        </p:nvSpPr>
        <p:spPr>
          <a:xfrm>
            <a:off x="546100" y="2006600"/>
            <a:ext cx="8001000" cy="8128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700" b="0" i="0">
                <a:solidFill>
                  <a:srgbClr val="333333"/>
                </a:solidFill>
                <a:latin typeface="Arial"/>
              </a:rPr>
              <a:t xml:space="preserve">–  HydIR lifts their decoded .text to stateful LLVM IR and links a bounded runtime.</a:t>
            </a:r>
            <a:endParaRPr lang="en-US" sz="1700"/>
          </a:p>
        </p:txBody>
      </p:sp>
      <p:sp>
        <p:nvSpPr>
          <p:cNvPr id="5" name="–  The demos compare five contro"/>
          <p:cNvSpPr txBox="1"/>
          <p:nvPr/>
        </p:nvSpPr>
        <p:spPr>
          <a:xfrm>
            <a:off x="546100" y="2882900"/>
            <a:ext cx="8001000" cy="8128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700" b="0" i="0">
                <a:solidFill>
                  <a:srgbClr val="333333"/>
                </a:solidFill>
                <a:latin typeface="Arial"/>
              </a:rPr>
              <a:t xml:space="preserve">–  The demos compare five controlled executions: stdout, stderr, and exit status.</a:t>
            </a:r>
            <a:endParaRPr lang="en-US" sz="1700"/>
          </a:p>
        </p:txBody>
      </p:sp>
      <p:sp>
        <p:nvSpPr>
          <p:cNvPr id="6" name="This is a tested subset, not gen"/>
          <p:cNvSpPr txBox="1"/>
          <p:nvPr/>
        </p:nvSpPr>
        <p:spPr>
          <a:xfrm>
            <a:off x="546100" y="4140200"/>
            <a:ext cx="8001000" cy="508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650" b="0" i="1">
                <a:solidFill>
                  <a:srgbClr val="555555"/>
                </a:solidFill>
                <a:latin typeface="Arial"/>
              </a:rPr>
              <a:t xml:space="preserve">This is a tested subset, not general ELF recompilation.</a:t>
            </a:r>
            <a:endParaRPr lang="en-US" sz="165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urrent boundaries"/>
          <p:cNvSpPr txBox="1"/>
          <p:nvPr/>
        </p:nvSpPr>
        <p:spPr>
          <a:xfrm>
            <a:off x="393700" y="368300"/>
            <a:ext cx="8382000" cy="533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2400" b="0" i="0">
                <a:solidFill>
                  <a:srgbClr val="222222"/>
                </a:solidFill>
                <a:latin typeface="Arial"/>
              </a:rPr>
              <a:t xml:space="preserve">Current boundaries</a:t>
            </a:r>
            <a:endParaRPr lang="en-US" sz="2400"/>
          </a:p>
        </p:txBody>
      </p:sp>
      <p:sp>
        <p:nvSpPr>
          <p:cNvPr id="3" name="Scalar lift contract"/>
          <p:cNvSpPr txBox="1"/>
          <p:nvPr/>
        </p:nvSpPr>
        <p:spPr>
          <a:xfrm>
            <a:off x="546100" y="1155700"/>
            <a:ext cx="3556000" cy="4191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800" b="1" i="0">
                <a:solidFill>
                  <a:srgbClr val="242424"/>
                </a:solidFill>
                <a:latin typeface="Arial"/>
              </a:rPr>
              <a:t xml:space="preserve">Scalar lift contract</a:t>
            </a:r>
            <a:endParaRPr lang="en-US" sz="1800"/>
          </a:p>
        </p:txBody>
      </p:sp>
      <p:sp>
        <p:nvSpPr>
          <p:cNvPr id="4" name="Requires a selected function and"/>
          <p:cNvSpPr txBox="1"/>
          <p:nvPr/>
        </p:nvSpPr>
        <p:spPr>
          <a:xfrm>
            <a:off x="546100" y="1765300"/>
            <a:ext cx="3683000" cy="2667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550" b="0" i="0">
                <a:solidFill>
                  <a:srgbClr val="333333"/>
                </a:solidFill>
                <a:latin typeface="Arial"/>
              </a:rPr>
              <a:t xml:space="preserve">Requires a selected function and an asserted u64(u64, u64) prototype.</a:t>
            </a:r>
            <a:endParaRPr lang="en-US" sz="1550"/>
          </a:p>
          <a:p>
            <a:pPr algn="l"/>
            <a:r>
              <a:rPr lang="en-US" sz="1550" b="0" i="0">
                <a:solidFill>
                  <a:srgbClr val="333333"/>
                </a:solidFill>
                <a:latin typeface="Arial"/>
              </a:rPr>
              <a:t xml:space="preserve">Supports full-width scalar moves, arithmetic, compare/test, and direct branches.</a:t>
            </a:r>
            <a:endParaRPr lang="en-US" sz="1550"/>
          </a:p>
          <a:p>
            <a:pPr algn="l"/>
            <a:r>
              <a:rPr lang="en-US" sz="1550" b="0" i="0">
                <a:solidFill>
                  <a:srgbClr val="333333"/>
                </a:solidFill>
                <a:latin typeface="Arial"/>
              </a:rPr>
              <a:t xml:space="preserve">Rejects unknown semantics or unsafe control-flow recovery.</a:t>
            </a:r>
            <a:endParaRPr lang="en-US" sz="1550"/>
          </a:p>
        </p:txBody>
      </p:sp>
      <p:sp>
        <p:nvSpPr>
          <p:cNvPr id="5" name="Not yet covered"/>
          <p:cNvSpPr txBox="1"/>
          <p:nvPr/>
        </p:nvSpPr>
        <p:spPr>
          <a:xfrm>
            <a:off x="4965700" y="1155700"/>
            <a:ext cx="3429000" cy="4191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800" b="1" i="0">
                <a:solidFill>
                  <a:srgbClr val="242424"/>
                </a:solidFill>
                <a:latin typeface="Arial"/>
              </a:rPr>
              <a:t xml:space="preserve">Not yet covered</a:t>
            </a:r>
            <a:endParaRPr lang="en-US" sz="1800"/>
          </a:p>
        </p:txBody>
      </p:sp>
      <p:sp>
        <p:nvSpPr>
          <p:cNvPr id="6" name="High-level structured C recovery"/>
          <p:cNvSpPr txBox="1"/>
          <p:nvPr/>
        </p:nvSpPr>
        <p:spPr>
          <a:xfrm>
            <a:off x="4965700" y="1765300"/>
            <a:ext cx="3505200" cy="26670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550" b="0" i="0">
                <a:solidFill>
                  <a:srgbClr val="333333"/>
                </a:solidFill>
                <a:latin typeface="Arial"/>
              </a:rPr>
              <a:t xml:space="preserve">High-level structured C recovery.</a:t>
            </a:r>
            <a:endParaRPr lang="en-US" sz="1550"/>
          </a:p>
          <a:p>
            <a:pPr algn="l"/>
            <a:r>
              <a:rPr lang="en-US" sz="1550" b="0" i="0">
                <a:solidFill>
                  <a:srgbClr val="333333"/>
                </a:solidFill>
                <a:latin typeface="Arial"/>
              </a:rPr>
              <a:t xml:space="preserve">General ELF recompilation.</a:t>
            </a:r>
            <a:endParaRPr lang="en-US" sz="1550"/>
          </a:p>
          <a:p>
            <a:pPr algn="l"/>
            <a:r>
              <a:rPr lang="en-US" sz="1550" b="0" i="0">
                <a:solidFill>
                  <a:srgbClr val="333333"/>
                </a:solidFill>
                <a:latin typeface="Arial"/>
              </a:rPr>
              <a:t xml:space="preserve">Automatic stripped-code discovery.</a:t>
            </a:r>
            <a:endParaRPr lang="en-US" sz="1550"/>
          </a:p>
          <a:p>
            <a:pPr algn="l"/>
            <a:r>
              <a:rPr lang="en-US" sz="1550" b="0" i="0">
                <a:solidFill>
                  <a:srgbClr val="333333"/>
                </a:solidFill>
                <a:latin typeface="Arial"/>
              </a:rPr>
              <a:t xml:space="preserve">Whole-program semantic equivalence.</a:t>
            </a:r>
            <a:endParaRPr lang="en-US" sz="155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mo route"/>
          <p:cNvSpPr txBox="1"/>
          <p:nvPr/>
        </p:nvSpPr>
        <p:spPr>
          <a:xfrm>
            <a:off x="393700" y="368300"/>
            <a:ext cx="8382000" cy="533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2400" b="0" i="0">
                <a:solidFill>
                  <a:srgbClr val="222222"/>
                </a:solidFill>
                <a:latin typeface="Arial"/>
              </a:rPr>
              <a:t xml:space="preserve">Demo route</a:t>
            </a:r>
            <a:endParaRPr lang="en-US" sz="2400"/>
          </a:p>
        </p:txBody>
      </p:sp>
      <p:sp>
        <p:nvSpPr>
          <p:cNvPr id="3" name="–  Build the trusted showcase EL"/>
          <p:cNvSpPr txBox="1"/>
          <p:nvPr/>
        </p:nvSpPr>
        <p:spPr>
          <a:xfrm>
            <a:off x="546100" y="1193800"/>
            <a:ext cx="8001000" cy="660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700" b="0" i="0">
                <a:solidFill>
                  <a:srgbClr val="333333"/>
                </a:solidFill>
                <a:latin typeface="Arial"/>
              </a:rPr>
              <a:t xml:space="preserve">–  Build the trusted showcase ELF with scripts/demo-password-showcase.sh.</a:t>
            </a:r>
            <a:endParaRPr lang="en-US" sz="1700"/>
          </a:p>
        </p:txBody>
      </p:sp>
      <p:sp>
        <p:nvSpPr>
          <p:cNvPr id="4" name="–  Open it in the GUI, then choo"/>
          <p:cNvSpPr txBox="1"/>
          <p:nvPr/>
        </p:nvSpPr>
        <p:spPr>
          <a:xfrm>
            <a:off x="546100" y="1892300"/>
            <a:ext cx="8001000" cy="660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700" b="0" i="0">
                <a:solidFill>
                  <a:srgbClr val="333333"/>
                </a:solidFill>
                <a:latin typeface="Arial"/>
              </a:rPr>
              <a:t xml:space="preserve">–  Open it in the GUI, then choose Disassemble ELF.</a:t>
            </a:r>
            <a:endParaRPr lang="en-US" sz="1700"/>
          </a:p>
        </p:txBody>
      </p:sp>
      <p:sp>
        <p:nvSpPr>
          <p:cNvPr id="5" name="–  Inspect hydir_policy_route, h"/>
          <p:cNvSpPr txBox="1"/>
          <p:nvPr/>
        </p:nvSpPr>
        <p:spPr>
          <a:xfrm>
            <a:off x="546100" y="2590800"/>
            <a:ext cx="8001000" cy="660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700" b="0" i="0">
                <a:solidFill>
                  <a:srgbClr val="333333"/>
                </a:solidFill>
                <a:latin typeface="Arial"/>
              </a:rPr>
              <a:t xml:space="preserve">–  Inspect hydir_policy_route, hydir_password_score, and the Graph view.</a:t>
            </a:r>
            <a:endParaRPr lang="en-US" sz="1700"/>
          </a:p>
        </p:txBody>
      </p:sp>
      <p:sp>
        <p:nvSpPr>
          <p:cNvPr id="6" name="–  Show hydir_max2 as a compact "/>
          <p:cNvSpPr txBox="1"/>
          <p:nvPr/>
        </p:nvSpPr>
        <p:spPr>
          <a:xfrm>
            <a:off x="546100" y="3289300"/>
            <a:ext cx="8001000" cy="6604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700" b="0" i="0">
                <a:solidFill>
                  <a:srgbClr val="333333"/>
                </a:solidFill>
                <a:latin typeface="Arial"/>
              </a:rPr>
              <a:t xml:space="preserve">–  Show hydir_max2 as a compact assembly-to-C example.</a:t>
            </a:r>
            <a:endParaRPr lang="en-US" sz="1700"/>
          </a:p>
        </p:txBody>
      </p:sp>
      <p:sp>
        <p:nvSpPr>
          <p:cNvPr id="7" name="The access-gate phrase and branc"/>
          <p:cNvSpPr txBox="1"/>
          <p:nvPr/>
        </p:nvSpPr>
        <p:spPr>
          <a:xfrm>
            <a:off x="546100" y="4178300"/>
            <a:ext cx="8013700" cy="571500"/>
          </a:xfrm>
          <a:prstGeom prst="rect">
            <a:avLst/>
          </a:prstGeom>
          <a:noFill/>
          <a:ln>
            <a:noFill/>
          </a:ln>
        </p:spPr>
        <p:txBody>
          <a:bodyPr wrap="square" anchor="t" lIns="0" tIns="0" rIns="0" bIns="0"/>
          <a:lstStyle/>
          <a:p>
            <a:pPr algn="l"/>
            <a:r>
              <a:rPr lang="en-US" sz="1280" b="0" i="0">
                <a:solidFill>
                  <a:srgbClr val="666666"/>
                </a:solidFill>
                <a:latin typeface="Arial"/>
              </a:rPr>
              <a:t xml:space="preserve">The access-gate phrase and branches are demonstration fixtures, not an authentication system.</a:t>
            </a:r>
            <a:endParaRPr lang="en-US" sz="128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HydIR">
  <a:themeElements>
    <a:clrScheme name="HydIR">
      <a:dk1>
        <a:srgbClr val="000000"/>
      </a:dk1>
      <a:lt1>
        <a:srgbClr val="FFFFFF"/>
      </a:lt1>
      <a:dk2>
        <a:srgbClr val="222222"/>
      </a:dk2>
      <a:lt2>
        <a:srgbClr val="F2F2F2"/>
      </a:lt2>
      <a:accent1>
        <a:srgbClr val="3570A0"/>
      </a:accent1>
      <a:accent2>
        <a:srgbClr val="65A6CE"/>
      </a:accent2>
      <a:accent3>
        <a:srgbClr val="4B8E72"/>
      </a:accent3>
      <a:accent4>
        <a:srgbClr val="A3926C"/>
      </a:accent4>
      <a:accent5>
        <a:srgbClr val="806CA3"/>
      </a:accent5>
      <a:accent6>
        <a:srgbClr val="B77D70"/>
      </a:accent6>
      <a:hlink>
        <a:srgbClr val="0563C1"/>
      </a:hlink>
      <a:folHlink>
        <a:srgbClr val="954F72"/>
      </a:folHlink>
    </a:clrScheme>
    <a:fontScheme name="HydIR">
      <a:majorFont>
        <a:latin typeface="Arial"/>
      </a:majorFont>
      <a:minorFont>
        <a:latin typeface="Arial"/>
      </a:minorFont>
    </a:fontScheme>
    <a:fmtScheme name="HydIR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9525">
          <a:solidFill>
            <a:schemeClr val="accent1"/>
          </a:solidFill>
        </a:ln>
        <a:ln w="25400">
          <a:solidFill>
            <a:schemeClr val="accent1"/>
          </a:solidFill>
        </a:ln>
        <a:ln w="38100">
          <a:solidFill>
            <a:schemeClr val="accent1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2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HydIR</Application>
  <Slides>11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HydIR project overview</dc:title>
  <dc:subject>Editable project presentation draft</dc:subject>
</cp:coreProperties>
</file>