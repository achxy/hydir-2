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C2E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0" y="0"/>
            <a:ext cx="88900" cy="51435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01"/>
          <p:cNvSpPr txBox="1"/>
          <p:nvPr/>
        </p:nvSpPr>
        <p:spPr>
          <a:xfrm>
            <a:off x="8394700" y="47117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192A5"/>
                </a:solidFill>
                <a:latin typeface="Arial"/>
              </a:rPr>
              <a:t xml:space="preserve">01</a:t>
            </a:r>
            <a:endParaRPr lang="en-US" sz="1000"/>
          </a:p>
        </p:txBody>
      </p:sp>
      <p:sp>
        <p:nvSpPr>
          <p:cNvPr id="5" name="HydIR"/>
          <p:cNvSpPr txBox="1"/>
          <p:nvPr/>
        </p:nvSpPr>
        <p:spPr>
          <a:xfrm>
            <a:off x="609600" y="1155700"/>
            <a:ext cx="7937500" cy="850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4700" b="0" i="0">
                <a:solidFill>
                  <a:srgbClr val="FFFFFF"/>
                </a:solidFill>
                <a:latin typeface="Arial"/>
              </a:rPr>
              <a:t xml:space="preserve">HydIR</a:t>
            </a:r>
            <a:endParaRPr lang="en-US" sz="4700"/>
          </a:p>
        </p:txBody>
      </p:sp>
      <p:sp>
        <p:nvSpPr>
          <p:cNvPr id="6" name="From machine bytes to inspectabl"/>
          <p:cNvSpPr txBox="1"/>
          <p:nvPr/>
        </p:nvSpPr>
        <p:spPr>
          <a:xfrm>
            <a:off x="647700" y="2184400"/>
            <a:ext cx="7620000" cy="825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D9E4EB"/>
                </a:solidFill>
                <a:latin typeface="Arial"/>
              </a:rPr>
              <a:t xml:space="preserve">From machine bytes to inspectable behavior</a:t>
            </a:r>
            <a:endParaRPr lang="en-US" sz="2300"/>
          </a:p>
        </p:txBody>
      </p:sp>
      <p:sp>
        <p:nvSpPr>
          <p:cNvPr id="7" name="Rectangle"/>
          <p:cNvSpPr/>
          <p:nvPr/>
        </p:nvSpPr>
        <p:spPr>
          <a:xfrm>
            <a:off x="647700" y="3403600"/>
            <a:ext cx="13208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8" name="Binary lifting workbench  /  pro"/>
          <p:cNvSpPr txBox="1"/>
          <p:nvPr/>
        </p:nvSpPr>
        <p:spPr>
          <a:xfrm>
            <a:off x="647700" y="3657600"/>
            <a:ext cx="7620000" cy="368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50" b="0" i="0">
                <a:solidFill>
                  <a:srgbClr val="AEBCCC"/>
                </a:solidFill>
                <a:latin typeface="Arial"/>
              </a:rPr>
              <a:t xml:space="preserve">Binary lifting workbench  /  project deep dive</a:t>
            </a:r>
            <a:endParaRPr lang="en-US" sz="1350"/>
          </a:p>
        </p:txBody>
      </p:sp>
      <p:sp>
        <p:nvSpPr>
          <p:cNvPr id="9" name="September 2026"/>
          <p:cNvSpPr txBox="1"/>
          <p:nvPr/>
        </p:nvSpPr>
        <p:spPr>
          <a:xfrm>
            <a:off x="647700" y="4140200"/>
            <a:ext cx="5080000" cy="292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b="0" i="0">
                <a:solidFill>
                  <a:srgbClr val="8294A9"/>
                </a:solidFill>
                <a:latin typeface="Arial"/>
              </a:rPr>
              <a:t xml:space="preserve">September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What can an executable tell us?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What can an executable tell us?</a:t>
            </a:r>
            <a:endParaRPr lang="en-US" sz="2300"/>
          </a:p>
        </p:txBody>
      </p:sp>
      <p:sp>
        <p:nvSpPr>
          <p:cNvPr id="5" name="02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02</a:t>
            </a:r>
            <a:endParaRPr lang="en-US" sz="1000"/>
          </a:p>
        </p:txBody>
      </p:sp>
      <p:sp>
        <p:nvSpPr>
          <p:cNvPr id="6" name="01"/>
          <p:cNvSpPr txBox="1"/>
          <p:nvPr/>
        </p:nvSpPr>
        <p:spPr>
          <a:xfrm>
            <a:off x="533400" y="1295400"/>
            <a:ext cx="6985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8A79C"/>
                </a:solidFill>
                <a:latin typeface="Arial"/>
              </a:rPr>
              <a:t xml:space="preserve">01</a:t>
            </a:r>
            <a:endParaRPr lang="en-US" sz="1800"/>
          </a:p>
        </p:txBody>
      </p:sp>
      <p:sp>
        <p:nvSpPr>
          <p:cNvPr id="7" name="Where can execution go?"/>
          <p:cNvSpPr txBox="1"/>
          <p:nvPr/>
        </p:nvSpPr>
        <p:spPr>
          <a:xfrm>
            <a:off x="1333500" y="1282700"/>
            <a:ext cx="7188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0" i="0">
                <a:solidFill>
                  <a:srgbClr val="172333"/>
                </a:solidFill>
                <a:latin typeface="Arial"/>
              </a:rPr>
              <a:t xml:space="preserve">Where can execution go?</a:t>
            </a:r>
            <a:endParaRPr lang="en-US" sz="2200"/>
          </a:p>
        </p:txBody>
      </p:sp>
      <p:sp>
        <p:nvSpPr>
          <p:cNvPr id="8" name="Rectangle"/>
          <p:cNvSpPr/>
          <p:nvPr/>
        </p:nvSpPr>
        <p:spPr>
          <a:xfrm>
            <a:off x="1333500" y="1955800"/>
            <a:ext cx="7048500" cy="25400"/>
          </a:xfrm>
          <a:prstGeom prst="rect">
            <a:avLst/>
          </a:prstGeom>
          <a:solidFill>
            <a:srgbClr val="DFE6EB"/>
          </a:solidFill>
          <a:ln>
            <a:noFill/>
          </a:ln>
        </p:spPr>
      </p:sp>
      <p:sp>
        <p:nvSpPr>
          <p:cNvPr id="9" name="02"/>
          <p:cNvSpPr txBox="1"/>
          <p:nvPr/>
        </p:nvSpPr>
        <p:spPr>
          <a:xfrm>
            <a:off x="533400" y="2324100"/>
            <a:ext cx="6985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8A79C"/>
                </a:solidFill>
                <a:latin typeface="Arial"/>
              </a:rPr>
              <a:t xml:space="preserve">02</a:t>
            </a:r>
            <a:endParaRPr lang="en-US" sz="1800"/>
          </a:p>
        </p:txBody>
      </p:sp>
      <p:sp>
        <p:nvSpPr>
          <p:cNvPr id="10" name="What values decide each branch?"/>
          <p:cNvSpPr txBox="1"/>
          <p:nvPr/>
        </p:nvSpPr>
        <p:spPr>
          <a:xfrm>
            <a:off x="1333500" y="2311400"/>
            <a:ext cx="7188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0" i="0">
                <a:solidFill>
                  <a:srgbClr val="172333"/>
                </a:solidFill>
                <a:latin typeface="Arial"/>
              </a:rPr>
              <a:t xml:space="preserve">What values decide each branch?</a:t>
            </a:r>
            <a:endParaRPr lang="en-US" sz="2200"/>
          </a:p>
        </p:txBody>
      </p:sp>
      <p:sp>
        <p:nvSpPr>
          <p:cNvPr id="11" name="Rectangle"/>
          <p:cNvSpPr/>
          <p:nvPr/>
        </p:nvSpPr>
        <p:spPr>
          <a:xfrm>
            <a:off x="1333500" y="2984500"/>
            <a:ext cx="7048500" cy="25400"/>
          </a:xfrm>
          <a:prstGeom prst="rect">
            <a:avLst/>
          </a:prstGeom>
          <a:solidFill>
            <a:srgbClr val="DFE6EB"/>
          </a:solidFill>
          <a:ln>
            <a:noFill/>
          </a:ln>
        </p:spPr>
      </p:sp>
      <p:sp>
        <p:nvSpPr>
          <p:cNvPr id="12" name="03"/>
          <p:cNvSpPr txBox="1"/>
          <p:nvPr/>
        </p:nvSpPr>
        <p:spPr>
          <a:xfrm>
            <a:off x="533400" y="3352800"/>
            <a:ext cx="6985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8A79C"/>
                </a:solidFill>
                <a:latin typeface="Arial"/>
              </a:rPr>
              <a:t xml:space="preserve">03</a:t>
            </a:r>
            <a:endParaRPr lang="en-US" sz="1800"/>
          </a:p>
        </p:txBody>
      </p:sp>
      <p:sp>
        <p:nvSpPr>
          <p:cNvPr id="13" name="Can a changed binary keep the be"/>
          <p:cNvSpPr txBox="1"/>
          <p:nvPr/>
        </p:nvSpPr>
        <p:spPr>
          <a:xfrm>
            <a:off x="1333500" y="3340100"/>
            <a:ext cx="7188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0" i="0">
                <a:solidFill>
                  <a:srgbClr val="172333"/>
                </a:solidFill>
                <a:latin typeface="Arial"/>
              </a:rPr>
              <a:t xml:space="preserve">Can a changed binary keep the behavior we expect?</a:t>
            </a:r>
            <a:endParaRPr lang="en-US" sz="2200"/>
          </a:p>
        </p:txBody>
      </p:sp>
      <p:sp>
        <p:nvSpPr>
          <p:cNvPr id="14" name="Rectangle"/>
          <p:cNvSpPr/>
          <p:nvPr/>
        </p:nvSpPr>
        <p:spPr>
          <a:xfrm>
            <a:off x="1333500" y="4013200"/>
            <a:ext cx="7048500" cy="25400"/>
          </a:xfrm>
          <a:prstGeom prst="rect">
            <a:avLst/>
          </a:prstGeom>
          <a:solidFill>
            <a:srgbClr val="DFE6EB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Why lift machine code?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Why lift machine code?</a:t>
            </a:r>
            <a:endParaRPr lang="en-US" sz="2300"/>
          </a:p>
        </p:txBody>
      </p:sp>
      <p:sp>
        <p:nvSpPr>
          <p:cNvPr id="5" name="03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03</a:t>
            </a:r>
            <a:endParaRPr lang="en-US" sz="1000"/>
          </a:p>
        </p:txBody>
      </p:sp>
      <p:sp>
        <p:nvSpPr>
          <p:cNvPr id="6" name="Rectangle"/>
          <p:cNvSpPr/>
          <p:nvPr/>
        </p:nvSpPr>
        <p:spPr>
          <a:xfrm>
            <a:off x="457200" y="1231900"/>
            <a:ext cx="3759200" cy="2933700"/>
          </a:xfrm>
          <a:prstGeom prst="rect">
            <a:avLst/>
          </a:prstGeom>
          <a:solidFill>
            <a:srgbClr val="252B38"/>
          </a:solidFill>
          <a:ln>
            <a:noFill/>
          </a:ln>
        </p:spPr>
      </p:sp>
      <p:sp>
        <p:nvSpPr>
          <p:cNvPr id="7" name="movq %rdi, %rax cmpq %rsi, %rdi "/>
          <p:cNvSpPr txBox="1"/>
          <p:nvPr/>
        </p:nvSpPr>
        <p:spPr>
          <a:xfrm>
            <a:off x="647700" y="1409700"/>
            <a:ext cx="3378200" cy="2590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 i="0">
                <a:solidFill>
                  <a:srgbClr val="EAF2F3"/>
                </a:solidFill>
                <a:latin typeface="Consolas"/>
              </a:rPr>
              <a:t xml:space="preserve">movq %rdi, %rax</a:t>
            </a:r>
            <a:endParaRPr lang="en-US" sz="1600"/>
          </a:p>
          <a:p>
            <a:pPr algn="l"/>
            <a:r>
              <a:rPr lang="en-US" sz="1600" b="0" i="0">
                <a:solidFill>
                  <a:srgbClr val="EAF2F3"/>
                </a:solidFill>
                <a:latin typeface="Consolas"/>
              </a:rPr>
              <a:t xml:space="preserve">cmpq %rsi, %rdi</a:t>
            </a:r>
            <a:endParaRPr lang="en-US" sz="1600"/>
          </a:p>
          <a:p>
            <a:pPr algn="l"/>
            <a:r>
              <a:rPr lang="en-US" sz="1600" b="0" i="0">
                <a:solidFill>
                  <a:srgbClr val="EAF2F3"/>
                </a:solidFill>
                <a:latin typeface="Consolas"/>
              </a:rPr>
              <a:t xml:space="preserve">jae .Ldone</a:t>
            </a:r>
            <a:endParaRPr lang="en-US" sz="1600"/>
          </a:p>
          <a:p>
            <a:pPr algn="l"/>
            <a:r>
              <a:rPr lang="en-US" sz="1600" b="0" i="0">
                <a:solidFill>
                  <a:srgbClr val="EAF2F3"/>
                </a:solidFill>
                <a:latin typeface="Consolas"/>
              </a:rPr>
              <a:t xml:space="preserve">movq %rsi, %rax</a:t>
            </a:r>
            <a:endParaRPr lang="en-US" sz="1600"/>
          </a:p>
          <a:p>
            <a:pPr algn="l"/>
            <a:r>
              <a:rPr lang="en-US" sz="1600" b="0" i="0">
                <a:solidFill>
                  <a:srgbClr val="EAF2F3"/>
                </a:solidFill>
                <a:latin typeface="Consolas"/>
              </a:rPr>
              <a:t xml:space="preserve">.Ldone:</a:t>
            </a:r>
            <a:endParaRPr lang="en-US" sz="1600"/>
          </a:p>
          <a:p>
            <a:pPr algn="l"/>
            <a:r>
              <a:rPr lang="en-US" sz="1600" b="0" i="0">
                <a:solidFill>
                  <a:srgbClr val="EAF2F3"/>
                </a:solidFill>
                <a:latin typeface="Consolas"/>
              </a:rPr>
              <a:t xml:space="preserve">ret</a:t>
            </a:r>
            <a:endParaRPr lang="en-US" sz="1600"/>
          </a:p>
        </p:txBody>
      </p:sp>
      <p:sp>
        <p:nvSpPr>
          <p:cNvPr id="8" name="Assembly makes the machine expli"/>
          <p:cNvSpPr txBox="1"/>
          <p:nvPr/>
        </p:nvSpPr>
        <p:spPr>
          <a:xfrm>
            <a:off x="4686300" y="1270000"/>
            <a:ext cx="40005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50" b="1" i="0">
                <a:solidFill>
                  <a:srgbClr val="172333"/>
                </a:solidFill>
                <a:latin typeface="Arial"/>
              </a:rPr>
              <a:t xml:space="preserve">Assembly makes the machine explicit</a:t>
            </a:r>
            <a:endParaRPr lang="en-US" sz="1750"/>
          </a:p>
        </p:txBody>
      </p:sp>
      <p:sp>
        <p:nvSpPr>
          <p:cNvPr id="9" name="A compare changes flags. A later"/>
          <p:cNvSpPr txBox="1"/>
          <p:nvPr/>
        </p:nvSpPr>
        <p:spPr>
          <a:xfrm>
            <a:off x="4686300" y="1866900"/>
            <a:ext cx="3937000" cy="1473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516173"/>
                </a:solidFill>
                <a:latin typeface="Arial"/>
              </a:rPr>
              <a:t xml:space="preserve">A compare changes flags. A later branch reads those flags. Register writes and addresses carry the rest of the story.</a:t>
            </a:r>
            <a:endParaRPr lang="en-US" sz="1700"/>
          </a:p>
        </p:txBody>
      </p:sp>
      <p:sp>
        <p:nvSpPr>
          <p:cNvPr id="10" name="Lifting translates these effects"/>
          <p:cNvSpPr txBox="1"/>
          <p:nvPr/>
        </p:nvSpPr>
        <p:spPr>
          <a:xfrm>
            <a:off x="4686300" y="3505200"/>
            <a:ext cx="393700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18A79C"/>
                </a:solidFill>
                <a:latin typeface="Arial"/>
              </a:rPr>
              <a:t xml:space="preserve">Lifting translates these effects into a form that analysis and transformation tools can handle.</a:t>
            </a:r>
            <a:endParaRPr lang="en-US" sz="1650"/>
          </a:p>
        </p:txBody>
      </p:sp>
      <p:sp>
        <p:nvSpPr>
          <p:cNvPr id="11" name="Motivation adapted from mrexodia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Motivation adapted from mrexodia, “Striga: Lifting x86 to LLVM IR with Python” (2026).</a:t>
            </a:r>
            <a:endParaRPr lang="en-US" sz="9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Why LLVM IR?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Why LLVM IR?</a:t>
            </a:r>
            <a:endParaRPr lang="en-US" sz="2300"/>
          </a:p>
        </p:txBody>
      </p:sp>
      <p:sp>
        <p:nvSpPr>
          <p:cNvPr id="5" name="04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04</a:t>
            </a:r>
            <a:endParaRPr lang="en-US" sz="1000"/>
          </a:p>
        </p:txBody>
      </p:sp>
      <p:sp>
        <p:nvSpPr>
          <p:cNvPr id="6" name="Explicit data flow"/>
          <p:cNvSpPr txBox="1"/>
          <p:nvPr/>
        </p:nvSpPr>
        <p:spPr>
          <a:xfrm>
            <a:off x="533400" y="1257300"/>
            <a:ext cx="2768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 i="0">
                <a:solidFill>
                  <a:srgbClr val="172333"/>
                </a:solidFill>
                <a:latin typeface="Arial"/>
              </a:rPr>
              <a:t xml:space="preserve">Explicit data flow</a:t>
            </a:r>
            <a:endParaRPr lang="en-US" sz="1900"/>
          </a:p>
        </p:txBody>
      </p:sp>
      <p:sp>
        <p:nvSpPr>
          <p:cNvPr id="7" name="Rectangle"/>
          <p:cNvSpPr/>
          <p:nvPr/>
        </p:nvSpPr>
        <p:spPr>
          <a:xfrm>
            <a:off x="3416300" y="1397000"/>
            <a:ext cx="2540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8" name="SSA values expose how results de"/>
          <p:cNvSpPr txBox="1"/>
          <p:nvPr/>
        </p:nvSpPr>
        <p:spPr>
          <a:xfrm>
            <a:off x="3810000" y="1257300"/>
            <a:ext cx="476250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516173"/>
                </a:solidFill>
                <a:latin typeface="Arial"/>
              </a:rPr>
              <a:t xml:space="preserve">SSA values expose how results depend on inputs and earlier blocks.</a:t>
            </a:r>
            <a:endParaRPr lang="en-US" sz="1700"/>
          </a:p>
        </p:txBody>
      </p:sp>
      <p:sp>
        <p:nvSpPr>
          <p:cNvPr id="9" name="Reusable transformations"/>
          <p:cNvSpPr txBox="1"/>
          <p:nvPr/>
        </p:nvSpPr>
        <p:spPr>
          <a:xfrm>
            <a:off x="533400" y="2286000"/>
            <a:ext cx="2768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 i="0">
                <a:solidFill>
                  <a:srgbClr val="172333"/>
                </a:solidFill>
                <a:latin typeface="Arial"/>
              </a:rPr>
              <a:t xml:space="preserve">Reusable transformations</a:t>
            </a:r>
            <a:endParaRPr lang="en-US" sz="1900"/>
          </a:p>
        </p:txBody>
      </p:sp>
      <p:sp>
        <p:nvSpPr>
          <p:cNvPr id="10" name="Rectangle"/>
          <p:cNvSpPr/>
          <p:nvPr/>
        </p:nvSpPr>
        <p:spPr>
          <a:xfrm>
            <a:off x="3416300" y="2425700"/>
            <a:ext cx="2540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1" name="LLVM passes simplify instruction"/>
          <p:cNvSpPr txBox="1"/>
          <p:nvPr/>
        </p:nvSpPr>
        <p:spPr>
          <a:xfrm>
            <a:off x="3810000" y="2286000"/>
            <a:ext cx="476250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516173"/>
                </a:solidFill>
                <a:latin typeface="Arial"/>
              </a:rPr>
              <a:t xml:space="preserve">LLVM passes simplify instructions and control flow after semantics are encoded.</a:t>
            </a:r>
            <a:endParaRPr lang="en-US" sz="1700"/>
          </a:p>
        </p:txBody>
      </p:sp>
      <p:sp>
        <p:nvSpPr>
          <p:cNvPr id="12" name="A checkable artifact"/>
          <p:cNvSpPr txBox="1"/>
          <p:nvPr/>
        </p:nvSpPr>
        <p:spPr>
          <a:xfrm>
            <a:off x="533400" y="3314700"/>
            <a:ext cx="2768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 i="0">
                <a:solidFill>
                  <a:srgbClr val="172333"/>
                </a:solidFill>
                <a:latin typeface="Arial"/>
              </a:rPr>
              <a:t xml:space="preserve">A checkable artifact</a:t>
            </a:r>
            <a:endParaRPr lang="en-US" sz="1900"/>
          </a:p>
        </p:txBody>
      </p:sp>
      <p:sp>
        <p:nvSpPr>
          <p:cNvPr id="13" name="Rectangle"/>
          <p:cNvSpPr/>
          <p:nvPr/>
        </p:nvSpPr>
        <p:spPr>
          <a:xfrm>
            <a:off x="3416300" y="3454400"/>
            <a:ext cx="2540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4" name="The verifier catches malformed I"/>
          <p:cNvSpPr txBox="1"/>
          <p:nvPr/>
        </p:nvSpPr>
        <p:spPr>
          <a:xfrm>
            <a:off x="3810000" y="3314700"/>
            <a:ext cx="476250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516173"/>
                </a:solidFill>
                <a:latin typeface="Arial"/>
              </a:rPr>
              <a:t xml:space="preserve">The verifier catches malformed IR before the next experiment or build.</a:t>
            </a:r>
            <a:endParaRPr lang="en-US" sz="1700"/>
          </a:p>
        </p:txBody>
      </p:sp>
      <p:sp>
        <p:nvSpPr>
          <p:cNvPr id="15" name="Sources: LLVM Language Reference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Sources: LLVM Language Reference and LLVM’s Analysis and Transform Passes; Striga (2026).</a:t>
            </a:r>
            <a:endParaRPr lang="en-US" sz="9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C2E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0" y="0"/>
            <a:ext cx="88900" cy="51435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05"/>
          <p:cNvSpPr txBox="1"/>
          <p:nvPr/>
        </p:nvSpPr>
        <p:spPr>
          <a:xfrm>
            <a:off x="8394700" y="47117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192A5"/>
                </a:solidFill>
                <a:latin typeface="Arial"/>
              </a:rPr>
              <a:t xml:space="preserve">05</a:t>
            </a:r>
            <a:endParaRPr lang="en-US" sz="1000"/>
          </a:p>
        </p:txBody>
      </p:sp>
      <p:sp>
        <p:nvSpPr>
          <p:cNvPr id="5" name="Striga’s teaching example"/>
          <p:cNvSpPr txBox="1"/>
          <p:nvPr/>
        </p:nvSpPr>
        <p:spPr>
          <a:xfrm>
            <a:off x="546100" y="838200"/>
            <a:ext cx="7874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00" b="0" i="0">
                <a:solidFill>
                  <a:srgbClr val="FFFFFF"/>
                </a:solidFill>
                <a:latin typeface="Arial"/>
              </a:rPr>
              <a:t xml:space="preserve">Striga’s teaching example</a:t>
            </a:r>
            <a:endParaRPr lang="en-US" sz="3100"/>
          </a:p>
        </p:txBody>
      </p:sp>
      <p:sp>
        <p:nvSpPr>
          <p:cNvPr id="6" name="x86 registers + flags"/>
          <p:cNvSpPr txBox="1"/>
          <p:nvPr/>
        </p:nvSpPr>
        <p:spPr>
          <a:xfrm>
            <a:off x="533400" y="2133600"/>
            <a:ext cx="2616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0" i="0">
                <a:solidFill>
                  <a:srgbClr val="D9E4EB"/>
                </a:solidFill>
                <a:latin typeface="Arial"/>
              </a:rPr>
              <a:t xml:space="preserve">x86 registers + flags</a:t>
            </a:r>
            <a:endParaRPr lang="en-US" sz="1800"/>
          </a:p>
        </p:txBody>
      </p:sp>
      <p:sp>
        <p:nvSpPr>
          <p:cNvPr id="7" name="→"/>
          <p:cNvSpPr txBox="1"/>
          <p:nvPr/>
        </p:nvSpPr>
        <p:spPr>
          <a:xfrm>
            <a:off x="3098800" y="2120900"/>
            <a:ext cx="6350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600" b="0" i="0">
                <a:solidFill>
                  <a:srgbClr val="59D9CF"/>
                </a:solidFill>
                <a:latin typeface="Arial"/>
              </a:rPr>
              <a:t xml:space="preserve">→</a:t>
            </a:r>
            <a:endParaRPr lang="en-US" sz="2600"/>
          </a:p>
        </p:txBody>
      </p:sp>
      <p:sp>
        <p:nvSpPr>
          <p:cNvPr id="8" name="State* + guest memory"/>
          <p:cNvSpPr txBox="1"/>
          <p:nvPr/>
        </p:nvSpPr>
        <p:spPr>
          <a:xfrm>
            <a:off x="3695700" y="2133600"/>
            <a:ext cx="28067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0" i="0">
                <a:solidFill>
                  <a:srgbClr val="D9E4EB"/>
                </a:solidFill>
                <a:latin typeface="Arial"/>
              </a:rPr>
              <a:t xml:space="preserve">State* + guest memory</a:t>
            </a:r>
            <a:endParaRPr lang="en-US" sz="1800"/>
          </a:p>
        </p:txBody>
      </p:sp>
      <p:sp>
        <p:nvSpPr>
          <p:cNvPr id="9" name="→"/>
          <p:cNvSpPr txBox="1"/>
          <p:nvPr/>
        </p:nvSpPr>
        <p:spPr>
          <a:xfrm>
            <a:off x="6502400" y="2120900"/>
            <a:ext cx="5715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600" b="0" i="0">
                <a:solidFill>
                  <a:srgbClr val="59D9CF"/>
                </a:solidFill>
                <a:latin typeface="Arial"/>
              </a:rPr>
              <a:t xml:space="preserve">→</a:t>
            </a:r>
            <a:endParaRPr lang="en-US" sz="2600"/>
          </a:p>
        </p:txBody>
      </p:sp>
      <p:sp>
        <p:nvSpPr>
          <p:cNvPr id="10" name="LLVM IR"/>
          <p:cNvSpPr txBox="1"/>
          <p:nvPr/>
        </p:nvSpPr>
        <p:spPr>
          <a:xfrm>
            <a:off x="7137400" y="2133600"/>
            <a:ext cx="1473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0" i="0">
                <a:solidFill>
                  <a:srgbClr val="D9E4EB"/>
                </a:solidFill>
                <a:latin typeface="Arial"/>
              </a:rPr>
              <a:t xml:space="preserve">LLVM IR</a:t>
            </a:r>
            <a:endParaRPr lang="en-US" sz="1800"/>
          </a:p>
        </p:txBody>
      </p:sp>
      <p:sp>
        <p:nvSpPr>
          <p:cNvPr id="11" name="Striga models register and flag "/>
          <p:cNvSpPr txBox="1"/>
          <p:nvPr/>
        </p:nvSpPr>
        <p:spPr>
          <a:xfrm>
            <a:off x="584200" y="33401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AFBECC"/>
                </a:solidFill>
                <a:latin typeface="Arial"/>
              </a:rPr>
              <a:t xml:space="preserve">Striga models register and flag effects in a State structure. Its article uses LLVM optimization to remove bookkeeping after an ABI wrapper restores function arguments and returns.</a:t>
            </a:r>
            <a:endParaRPr lang="en-US" sz="1650"/>
          </a:p>
        </p:txBody>
      </p:sp>
      <p:sp>
        <p:nvSpPr>
          <p:cNvPr id="12" name="Source: secret.club/2026/05/21/s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8294A9"/>
                </a:solidFill>
                <a:latin typeface="Arial"/>
              </a:rPr>
              <a:t xml:space="preserve">Source: secret.club/2026/05/21/striga.html</a:t>
            </a:r>
            <a:endParaRPr lang="en-US" sz="9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When the bookkeeping disappears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When the bookkeeping disappears</a:t>
            </a:r>
            <a:endParaRPr lang="en-US" sz="2300"/>
          </a:p>
        </p:txBody>
      </p:sp>
      <p:sp>
        <p:nvSpPr>
          <p:cNvPr id="5" name="06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06</a:t>
            </a:r>
            <a:endParaRPr lang="en-US" sz="1000"/>
          </a:p>
        </p:txBody>
      </p:sp>
      <p:sp>
        <p:nvSpPr>
          <p:cNvPr id="6" name="Lifted shape (conceptual)"/>
          <p:cNvSpPr txBox="1"/>
          <p:nvPr/>
        </p:nvSpPr>
        <p:spPr>
          <a:xfrm>
            <a:off x="520700" y="1168400"/>
            <a:ext cx="3746500" cy="393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 i="0">
                <a:solidFill>
                  <a:srgbClr val="516173"/>
                </a:solidFill>
                <a:latin typeface="Arial"/>
              </a:rPr>
              <a:t xml:space="preserve">Lifted shape (conceptual)</a:t>
            </a:r>
            <a:endParaRPr lang="en-US" sz="1500"/>
          </a:p>
        </p:txBody>
      </p:sp>
      <p:sp>
        <p:nvSpPr>
          <p:cNvPr id="7" name="After an ABI wrapper and LLVM pa"/>
          <p:cNvSpPr txBox="1"/>
          <p:nvPr/>
        </p:nvSpPr>
        <p:spPr>
          <a:xfrm>
            <a:off x="4762500" y="1168400"/>
            <a:ext cx="3937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 i="0">
                <a:solidFill>
                  <a:srgbClr val="516173"/>
                </a:solidFill>
                <a:latin typeface="Arial"/>
              </a:rPr>
              <a:t xml:space="preserve">After an ABI wrapper and LLVM passes</a:t>
            </a:r>
            <a:endParaRPr lang="en-US" sz="1500"/>
          </a:p>
        </p:txBody>
      </p:sp>
      <p:sp>
        <p:nvSpPr>
          <p:cNvPr id="8" name="Rectangle"/>
          <p:cNvSpPr/>
          <p:nvPr/>
        </p:nvSpPr>
        <p:spPr>
          <a:xfrm>
            <a:off x="469900" y="1651000"/>
            <a:ext cx="3860800" cy="1841500"/>
          </a:xfrm>
          <a:prstGeom prst="rect">
            <a:avLst/>
          </a:prstGeom>
          <a:solidFill>
            <a:srgbClr val="252B38"/>
          </a:solidFill>
          <a:ln>
            <a:noFill/>
          </a:ln>
        </p:spPr>
      </p:sp>
      <p:sp>
        <p:nvSpPr>
          <p:cNvPr id="9" name="state.rdi += state.rsi; state.ra"/>
          <p:cNvSpPr txBox="1"/>
          <p:nvPr/>
        </p:nvSpPr>
        <p:spPr>
          <a:xfrm>
            <a:off x="660400" y="1828800"/>
            <a:ext cx="3479800" cy="149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state.rdi += state.rsi;</a:t>
            </a:r>
            <a:endParaRPr lang="en-US" sz="1550"/>
          </a:p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state.rax = state.rdi;</a:t>
            </a:r>
            <a:endParaRPr lang="en-US" sz="1550"/>
          </a:p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return state.rax;</a:t>
            </a:r>
            <a:endParaRPr lang="en-US" sz="1550"/>
          </a:p>
        </p:txBody>
      </p:sp>
      <p:sp>
        <p:nvSpPr>
          <p:cNvPr id="10" name="Rectangle"/>
          <p:cNvSpPr/>
          <p:nvPr/>
        </p:nvSpPr>
        <p:spPr>
          <a:xfrm>
            <a:off x="4711700" y="1651000"/>
            <a:ext cx="3949700" cy="1841500"/>
          </a:xfrm>
          <a:prstGeom prst="rect">
            <a:avLst/>
          </a:prstGeom>
          <a:solidFill>
            <a:srgbClr val="252B38"/>
          </a:solidFill>
          <a:ln>
            <a:noFill/>
          </a:ln>
        </p:spPr>
      </p:sp>
      <p:sp>
        <p:nvSpPr>
          <p:cNvPr id="11" name="uint64_t add(uint64_t x,        "/>
          <p:cNvSpPr txBox="1"/>
          <p:nvPr/>
        </p:nvSpPr>
        <p:spPr>
          <a:xfrm>
            <a:off x="4902200" y="1828800"/>
            <a:ext cx="3568700" cy="149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80" b="0" i="0">
                <a:solidFill>
                  <a:srgbClr val="EAF2F3"/>
                </a:solidFill>
                <a:latin typeface="Consolas"/>
              </a:rPr>
              <a:t xml:space="preserve">uint64_t add(uint64_t x,</a:t>
            </a:r>
            <a:endParaRPr lang="en-US" sz="1480"/>
          </a:p>
          <a:p>
            <a:pPr algn="l"/>
            <a:r>
              <a:rPr lang="en-US" sz="1480" b="0" i="0">
                <a:solidFill>
                  <a:srgbClr val="EAF2F3"/>
                </a:solidFill>
                <a:latin typeface="Consolas"/>
              </a:rPr>
              <a:t xml:space="preserve">             uint64_t y) {</a:t>
            </a:r>
            <a:endParaRPr lang="en-US" sz="1480"/>
          </a:p>
          <a:p>
            <a:pPr algn="l"/>
            <a:r>
              <a:rPr lang="en-US" sz="1480" b="0" i="0">
                <a:solidFill>
                  <a:srgbClr val="EAF2F3"/>
                </a:solidFill>
                <a:latin typeface="Consolas"/>
              </a:rPr>
              <a:t xml:space="preserve">  return x + y;</a:t>
            </a:r>
            <a:endParaRPr lang="en-US" sz="1480"/>
          </a:p>
          <a:p>
            <a:pPr algn="l"/>
            <a:r>
              <a:rPr lang="en-US" sz="1480" b="0" i="0">
                <a:solidFill>
                  <a:srgbClr val="EAF2F3"/>
                </a:solidFill>
                <a:latin typeface="Consolas"/>
              </a:rPr>
              <a:t xml:space="preserve">}</a:t>
            </a:r>
            <a:endParaRPr lang="en-US" sz="1480"/>
          </a:p>
        </p:txBody>
      </p:sp>
      <p:sp>
        <p:nvSpPr>
          <p:cNvPr id="12" name="The point: machine-state scaffol"/>
          <p:cNvSpPr txBox="1"/>
          <p:nvPr/>
        </p:nvSpPr>
        <p:spPr>
          <a:xfrm>
            <a:off x="546100" y="3784600"/>
            <a:ext cx="80391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172333"/>
                </a:solidFill>
                <a:latin typeface="Arial"/>
              </a:rPr>
              <a:t xml:space="preserve">The point: machine-state scaffolding can become ordinary data flow once its calling convention is made explicit.</a:t>
            </a:r>
            <a:endParaRPr lang="en-US" sz="1700"/>
          </a:p>
        </p:txBody>
      </p:sp>
      <p:sp>
        <p:nvSpPr>
          <p:cNvPr id="13" name="Conceptual paraphrase of Striga’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Conceptual paraphrase of Striga’s brightening example; not a HydIR feature claim.</a:t>
            </a:r>
            <a:endParaRPr lang="en-US" sz="9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HydIR takes a narrower route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HydIR takes a narrower route</a:t>
            </a:r>
            <a:endParaRPr lang="en-US" sz="2300"/>
          </a:p>
        </p:txBody>
      </p:sp>
      <p:sp>
        <p:nvSpPr>
          <p:cNvPr id="5" name="07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07</a:t>
            </a:r>
            <a:endParaRPr lang="en-US" sz="1000"/>
          </a:p>
        </p:txBody>
      </p:sp>
      <p:sp>
        <p:nvSpPr>
          <p:cNvPr id="6" name="Bounded ELF function"/>
          <p:cNvSpPr txBox="1"/>
          <p:nvPr/>
        </p:nvSpPr>
        <p:spPr>
          <a:xfrm>
            <a:off x="533400" y="14224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Bounded ELF function</a:t>
            </a:r>
            <a:endParaRPr lang="en-US" sz="2000"/>
          </a:p>
        </p:txBody>
      </p:sp>
      <p:sp>
        <p:nvSpPr>
          <p:cNvPr id="7" name="↓"/>
          <p:cNvSpPr txBox="1"/>
          <p:nvPr/>
        </p:nvSpPr>
        <p:spPr>
          <a:xfrm>
            <a:off x="1803400" y="1892300"/>
            <a:ext cx="6985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0" i="0">
                <a:solidFill>
                  <a:srgbClr val="18A79C"/>
                </a:solidFill>
                <a:latin typeface="Arial"/>
              </a:rPr>
              <a:t xml:space="preserve">↓</a:t>
            </a:r>
            <a:endParaRPr lang="en-US" sz="2300"/>
          </a:p>
        </p:txBody>
      </p:sp>
      <p:sp>
        <p:nvSpPr>
          <p:cNvPr id="8" name="Reachable CFG"/>
          <p:cNvSpPr txBox="1"/>
          <p:nvPr/>
        </p:nvSpPr>
        <p:spPr>
          <a:xfrm>
            <a:off x="533400" y="24384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Reachable CFG</a:t>
            </a:r>
            <a:endParaRPr lang="en-US" sz="2000"/>
          </a:p>
        </p:txBody>
      </p:sp>
      <p:sp>
        <p:nvSpPr>
          <p:cNvPr id="9" name="↓"/>
          <p:cNvSpPr txBox="1"/>
          <p:nvPr/>
        </p:nvSpPr>
        <p:spPr>
          <a:xfrm>
            <a:off x="1803400" y="2908300"/>
            <a:ext cx="6985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0" i="0">
                <a:solidFill>
                  <a:srgbClr val="18A79C"/>
                </a:solidFill>
                <a:latin typeface="Arial"/>
              </a:rPr>
              <a:t xml:space="preserve">↓</a:t>
            </a:r>
            <a:endParaRPr lang="en-US" sz="2300"/>
          </a:p>
        </p:txBody>
      </p:sp>
      <p:sp>
        <p:nvSpPr>
          <p:cNvPr id="10" name="SSA values for registers + flags"/>
          <p:cNvSpPr txBox="1"/>
          <p:nvPr/>
        </p:nvSpPr>
        <p:spPr>
          <a:xfrm>
            <a:off x="533400" y="3416300"/>
            <a:ext cx="4191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 i="0">
                <a:solidFill>
                  <a:srgbClr val="172333"/>
                </a:solidFill>
                <a:latin typeface="Arial"/>
              </a:rPr>
              <a:t xml:space="preserve">SSA values for registers + flags</a:t>
            </a:r>
            <a:endParaRPr lang="en-US" sz="1900"/>
          </a:p>
        </p:txBody>
      </p:sp>
      <p:sp>
        <p:nvSpPr>
          <p:cNvPr id="11" name="Rectangle"/>
          <p:cNvSpPr/>
          <p:nvPr/>
        </p:nvSpPr>
        <p:spPr>
          <a:xfrm>
            <a:off x="4787900" y="1409700"/>
            <a:ext cx="25400" cy="2590800"/>
          </a:xfrm>
          <a:prstGeom prst="rect">
            <a:avLst/>
          </a:prstGeom>
          <a:solidFill>
            <a:srgbClr val="D3DBE3"/>
          </a:solidFill>
          <a:ln>
            <a:noFill/>
          </a:ln>
        </p:spPr>
      </p:sp>
      <p:sp>
        <p:nvSpPr>
          <p:cNvPr id="12" name="HydIR’s scalar path emits per-bl"/>
          <p:cNvSpPr txBox="1"/>
          <p:nvPr/>
        </p:nvSpPr>
        <p:spPr>
          <a:xfrm>
            <a:off x="5130800" y="1397000"/>
            <a:ext cx="33909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516173"/>
                </a:solidFill>
                <a:latin typeface="Arial"/>
              </a:rPr>
              <a:t xml:space="preserve">HydIR’s scalar path emits per-block φ values and explicit branch conditions. It accepts a selected instruction subset and rejects unknown memory, calls, indirect edges, and partial registers.</a:t>
            </a:r>
            <a:endParaRPr lang="en-US" sz="1650"/>
          </a:p>
        </p:txBody>
      </p:sp>
      <p:sp>
        <p:nvSpPr>
          <p:cNvPr id="13" name="Source: README.md, “Exact suppor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README.md, “Exact supported lift contract”; target/demo-showcase/max2.ll.</a:t>
            </a:r>
            <a:endParaRPr lang="en-US" sz="9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C2E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0" y="0"/>
            <a:ext cx="88900" cy="51435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08"/>
          <p:cNvSpPr txBox="1"/>
          <p:nvPr/>
        </p:nvSpPr>
        <p:spPr>
          <a:xfrm>
            <a:off x="8394700" y="47117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192A5"/>
                </a:solidFill>
                <a:latin typeface="Arial"/>
              </a:rPr>
              <a:t xml:space="preserve">08</a:t>
            </a:r>
            <a:endParaRPr lang="en-US" sz="1000"/>
          </a:p>
        </p:txBody>
      </p:sp>
      <p:sp>
        <p:nvSpPr>
          <p:cNvPr id="5" name="One function, several artifacts"/>
          <p:cNvSpPr txBox="1"/>
          <p:nvPr/>
        </p:nvSpPr>
        <p:spPr>
          <a:xfrm>
            <a:off x="546100" y="876300"/>
            <a:ext cx="7937500" cy="749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100" b="0" i="0">
                <a:solidFill>
                  <a:srgbClr val="FFFFFF"/>
                </a:solidFill>
                <a:latin typeface="Arial"/>
              </a:rPr>
              <a:t xml:space="preserve">One function, several artifacts</a:t>
            </a:r>
            <a:endParaRPr lang="en-US" sz="3100"/>
          </a:p>
        </p:txBody>
      </p:sp>
      <p:sp>
        <p:nvSpPr>
          <p:cNvPr id="6" name="ELF bytes"/>
          <p:cNvSpPr txBox="1"/>
          <p:nvPr/>
        </p:nvSpPr>
        <p:spPr>
          <a:xfrm>
            <a:off x="482600" y="23622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700" b="0" i="0">
                <a:solidFill>
                  <a:srgbClr val="E3ECF1"/>
                </a:solidFill>
                <a:latin typeface="Arial"/>
              </a:rPr>
              <a:t xml:space="preserve">ELF bytes</a:t>
            </a:r>
            <a:endParaRPr lang="en-US" sz="1700"/>
          </a:p>
        </p:txBody>
      </p:sp>
      <p:sp>
        <p:nvSpPr>
          <p:cNvPr id="7" name="→"/>
          <p:cNvSpPr txBox="1"/>
          <p:nvPr/>
        </p:nvSpPr>
        <p:spPr>
          <a:xfrm>
            <a:off x="1905000" y="23622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0" i="0">
                <a:solidFill>
                  <a:srgbClr val="59D9CF"/>
                </a:solidFill>
                <a:latin typeface="Arial"/>
              </a:rPr>
              <a:t xml:space="preserve">→</a:t>
            </a:r>
            <a:endParaRPr lang="en-US" sz="2300"/>
          </a:p>
        </p:txBody>
      </p:sp>
      <p:sp>
        <p:nvSpPr>
          <p:cNvPr id="8" name="CFG"/>
          <p:cNvSpPr txBox="1"/>
          <p:nvPr/>
        </p:nvSpPr>
        <p:spPr>
          <a:xfrm>
            <a:off x="2349500" y="2362200"/>
            <a:ext cx="11938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700" b="0" i="0">
                <a:solidFill>
                  <a:srgbClr val="E3ECF1"/>
                </a:solidFill>
                <a:latin typeface="Arial"/>
              </a:rPr>
              <a:t xml:space="preserve">CFG</a:t>
            </a:r>
            <a:endParaRPr lang="en-US" sz="1700"/>
          </a:p>
        </p:txBody>
      </p:sp>
      <p:sp>
        <p:nvSpPr>
          <p:cNvPr id="9" name="→"/>
          <p:cNvSpPr txBox="1"/>
          <p:nvPr/>
        </p:nvSpPr>
        <p:spPr>
          <a:xfrm>
            <a:off x="3556000" y="23622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0" i="0">
                <a:solidFill>
                  <a:srgbClr val="59D9CF"/>
                </a:solidFill>
                <a:latin typeface="Arial"/>
              </a:rPr>
              <a:t xml:space="preserve">→</a:t>
            </a:r>
            <a:endParaRPr lang="en-US" sz="2300"/>
          </a:p>
        </p:txBody>
      </p:sp>
      <p:sp>
        <p:nvSpPr>
          <p:cNvPr id="10" name="LLVM IR"/>
          <p:cNvSpPr txBox="1"/>
          <p:nvPr/>
        </p:nvSpPr>
        <p:spPr>
          <a:xfrm>
            <a:off x="3949700" y="2362200"/>
            <a:ext cx="15875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700" b="0" i="0">
                <a:solidFill>
                  <a:srgbClr val="E3ECF1"/>
                </a:solidFill>
                <a:latin typeface="Arial"/>
              </a:rPr>
              <a:t xml:space="preserve">LLVM IR</a:t>
            </a:r>
            <a:endParaRPr lang="en-US" sz="1700"/>
          </a:p>
        </p:txBody>
      </p:sp>
      <p:sp>
        <p:nvSpPr>
          <p:cNvPr id="11" name="→"/>
          <p:cNvSpPr txBox="1"/>
          <p:nvPr/>
        </p:nvSpPr>
        <p:spPr>
          <a:xfrm>
            <a:off x="5524500" y="23622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0" i="0">
                <a:solidFill>
                  <a:srgbClr val="59D9CF"/>
                </a:solidFill>
                <a:latin typeface="Arial"/>
              </a:rPr>
              <a:t xml:space="preserve">→</a:t>
            </a:r>
            <a:endParaRPr lang="en-US" sz="2300"/>
          </a:p>
        </p:txBody>
      </p:sp>
      <p:sp>
        <p:nvSpPr>
          <p:cNvPr id="12" name="C / passes / rebuild"/>
          <p:cNvSpPr txBox="1"/>
          <p:nvPr/>
        </p:nvSpPr>
        <p:spPr>
          <a:xfrm>
            <a:off x="5956300" y="2362200"/>
            <a:ext cx="26543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700" b="0" i="0">
                <a:solidFill>
                  <a:srgbClr val="E3ECF1"/>
                </a:solidFill>
                <a:latin typeface="Arial"/>
              </a:rPr>
              <a:t xml:space="preserve">C / passes / rebuild</a:t>
            </a:r>
            <a:endParaRPr lang="en-US" sz="1700"/>
          </a:p>
        </p:txBody>
      </p:sp>
      <p:sp>
        <p:nvSpPr>
          <p:cNvPr id="13" name="Each step has a different purpos"/>
          <p:cNvSpPr txBox="1"/>
          <p:nvPr/>
        </p:nvSpPr>
        <p:spPr>
          <a:xfrm>
            <a:off x="698500" y="3429000"/>
            <a:ext cx="7721600" cy="850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AFBECC"/>
                </a:solidFill>
                <a:latin typeface="Arial"/>
              </a:rPr>
              <a:t xml:space="preserve">Each step has a different purpose: inspect the binary, recover control flow, encode semantics, then choose an output or experiment.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The scalar lift contract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The scalar lift contract</a:t>
            </a:r>
            <a:endParaRPr lang="en-US" sz="2300"/>
          </a:p>
        </p:txBody>
      </p:sp>
      <p:sp>
        <p:nvSpPr>
          <p:cNvPr id="5" name="09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09</a:t>
            </a:r>
            <a:endParaRPr lang="en-US" sz="1000"/>
          </a:p>
        </p:txBody>
      </p:sp>
      <p:sp>
        <p:nvSpPr>
          <p:cNvPr id="6" name="Required"/>
          <p:cNvSpPr txBox="1"/>
          <p:nvPr/>
        </p:nvSpPr>
        <p:spPr>
          <a:xfrm>
            <a:off x="533400" y="1282700"/>
            <a:ext cx="34163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 i="0">
                <a:solidFill>
                  <a:srgbClr val="18A79C"/>
                </a:solidFill>
                <a:latin typeface="Arial"/>
              </a:rPr>
              <a:t xml:space="preserve">Required</a:t>
            </a:r>
            <a:endParaRPr lang="en-US" sz="1900"/>
          </a:p>
        </p:txBody>
      </p:sp>
      <p:sp>
        <p:nvSpPr>
          <p:cNvPr id="7" name="Little-endian x86-64 ELF. A chos"/>
          <p:cNvSpPr txBox="1"/>
          <p:nvPr/>
        </p:nvSpPr>
        <p:spPr>
          <a:xfrm>
            <a:off x="533400" y="1841500"/>
            <a:ext cx="3670300" cy="177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516173"/>
                </a:solidFill>
                <a:latin typeface="Arial"/>
              </a:rPr>
              <a:t xml:space="preserve">Little-endian x86-64 ELF. A chosen symbol or explicit entry and size. An analyst assertion of u64(u64, u64).</a:t>
            </a:r>
            <a:endParaRPr lang="en-US" sz="1650"/>
          </a:p>
        </p:txBody>
      </p:sp>
      <p:sp>
        <p:nvSpPr>
          <p:cNvPr id="8" name="Rectangle"/>
          <p:cNvSpPr/>
          <p:nvPr/>
        </p:nvSpPr>
        <p:spPr>
          <a:xfrm>
            <a:off x="4533900" y="1308100"/>
            <a:ext cx="25400" cy="2387600"/>
          </a:xfrm>
          <a:prstGeom prst="rect">
            <a:avLst/>
          </a:prstGeom>
          <a:solidFill>
            <a:srgbClr val="D3DBE3"/>
          </a:solidFill>
          <a:ln>
            <a:noFill/>
          </a:ln>
        </p:spPr>
      </p:sp>
      <p:sp>
        <p:nvSpPr>
          <p:cNvPr id="9" name="Accepted semantics"/>
          <p:cNvSpPr txBox="1"/>
          <p:nvPr/>
        </p:nvSpPr>
        <p:spPr>
          <a:xfrm>
            <a:off x="4864100" y="1282700"/>
            <a:ext cx="3556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900" b="1" i="0">
                <a:solidFill>
                  <a:srgbClr val="18A79C"/>
                </a:solidFill>
                <a:latin typeface="Arial"/>
              </a:rPr>
              <a:t xml:space="preserve">Accepted semantics</a:t>
            </a:r>
            <a:endParaRPr lang="en-US" sz="1900"/>
          </a:p>
        </p:txBody>
      </p:sp>
      <p:sp>
        <p:nvSpPr>
          <p:cNvPr id="10" name="Full-width scalar moves and arit"/>
          <p:cNvSpPr txBox="1"/>
          <p:nvPr/>
        </p:nvSpPr>
        <p:spPr>
          <a:xfrm>
            <a:off x="4864100" y="1841500"/>
            <a:ext cx="3619500" cy="177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516173"/>
                </a:solidFill>
                <a:latin typeface="Arial"/>
              </a:rPr>
              <a:t xml:space="preserve">Full-width scalar moves and arithmetic, compare/test, returns, and direct conditional branches. Returning paths define RAX.</a:t>
            </a:r>
            <a:endParaRPr lang="en-US" sz="1650"/>
          </a:p>
        </p:txBody>
      </p:sp>
      <p:sp>
        <p:nvSpPr>
          <p:cNvPr id="11" name="Anything outside the contract is"/>
          <p:cNvSpPr txBox="1"/>
          <p:nvPr/>
        </p:nvSpPr>
        <p:spPr>
          <a:xfrm>
            <a:off x="546100" y="39624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Anything outside the contract is rejected instead of guessed.</a:t>
            </a:r>
            <a:endParaRPr lang="en-US" sz="1800"/>
          </a:p>
        </p:txBody>
      </p:sp>
      <p:sp>
        <p:nvSpPr>
          <p:cNvPr id="12" name="Source: README.md, “Exact suppor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README.md, “Exact supported lift contract”.</a:t>
            </a:r>
            <a:endParaRPr lang="en-US" sz="9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Worked example: hydir_max2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Worked example: hydir_max2</a:t>
            </a:r>
            <a:endParaRPr lang="en-US" sz="2300"/>
          </a:p>
        </p:txBody>
      </p:sp>
      <p:sp>
        <p:nvSpPr>
          <p:cNvPr id="5" name="10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10</a:t>
            </a:r>
            <a:endParaRPr lang="en-US" sz="1000"/>
          </a:p>
        </p:txBody>
      </p:sp>
      <p:sp>
        <p:nvSpPr>
          <p:cNvPr id="6" name="Rectangle"/>
          <p:cNvSpPr/>
          <p:nvPr/>
        </p:nvSpPr>
        <p:spPr>
          <a:xfrm>
            <a:off x="469900" y="1244600"/>
            <a:ext cx="4102100" cy="3009900"/>
          </a:xfrm>
          <a:prstGeom prst="rect">
            <a:avLst/>
          </a:prstGeom>
          <a:solidFill>
            <a:srgbClr val="252B38"/>
          </a:solidFill>
          <a:ln>
            <a:noFill/>
          </a:ln>
        </p:spPr>
      </p:sp>
      <p:sp>
        <p:nvSpPr>
          <p:cNvPr id="7" name="hydir_max2:   movq %rdi, %rax   "/>
          <p:cNvSpPr txBox="1"/>
          <p:nvPr/>
        </p:nvSpPr>
        <p:spPr>
          <a:xfrm>
            <a:off x="660400" y="1422400"/>
            <a:ext cx="3721100" cy="2667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80" b="0" i="0">
                <a:solidFill>
                  <a:srgbClr val="EAF2F3"/>
                </a:solidFill>
                <a:latin typeface="Consolas"/>
              </a:rPr>
              <a:t xml:space="preserve">hydir_max2:</a:t>
            </a:r>
            <a:endParaRPr lang="en-US" sz="1580"/>
          </a:p>
          <a:p>
            <a:pPr algn="l"/>
            <a:r>
              <a:rPr lang="en-US" sz="1580" b="0" i="0">
                <a:solidFill>
                  <a:srgbClr val="EAF2F3"/>
                </a:solidFill>
                <a:latin typeface="Consolas"/>
              </a:rPr>
              <a:t xml:space="preserve">  movq %rdi, %rax</a:t>
            </a:r>
            <a:endParaRPr lang="en-US" sz="1580"/>
          </a:p>
          <a:p>
            <a:pPr algn="l"/>
            <a:r>
              <a:rPr lang="en-US" sz="1580" b="0" i="0">
                <a:solidFill>
                  <a:srgbClr val="EAF2F3"/>
                </a:solidFill>
                <a:latin typeface="Consolas"/>
              </a:rPr>
              <a:t xml:space="preserve">  cmpq %rsi, %rdi</a:t>
            </a:r>
            <a:endParaRPr lang="en-US" sz="1580"/>
          </a:p>
          <a:p>
            <a:pPr algn="l"/>
            <a:r>
              <a:rPr lang="en-US" sz="1580" b="0" i="0">
                <a:solidFill>
                  <a:srgbClr val="EAF2F3"/>
                </a:solidFill>
                <a:latin typeface="Consolas"/>
              </a:rPr>
              <a:t xml:space="preserve">  jae .Ldone</a:t>
            </a:r>
            <a:endParaRPr lang="en-US" sz="1580"/>
          </a:p>
          <a:p>
            <a:pPr algn="l"/>
            <a:r>
              <a:rPr lang="en-US" sz="1580" b="0" i="0">
                <a:solidFill>
                  <a:srgbClr val="EAF2F3"/>
                </a:solidFill>
                <a:latin typeface="Consolas"/>
              </a:rPr>
              <a:t xml:space="preserve">  movq %rsi, %rax</a:t>
            </a:r>
            <a:endParaRPr lang="en-US" sz="1580"/>
          </a:p>
          <a:p>
            <a:pPr algn="l"/>
            <a:r>
              <a:rPr lang="en-US" sz="1580" b="0" i="0">
                <a:solidFill>
                  <a:srgbClr val="EAF2F3"/>
                </a:solidFill>
                <a:latin typeface="Consolas"/>
              </a:rPr>
              <a:t xml:space="preserve">.Ldone:</a:t>
            </a:r>
            <a:endParaRPr lang="en-US" sz="1580"/>
          </a:p>
          <a:p>
            <a:pPr algn="l"/>
            <a:r>
              <a:rPr lang="en-US" sz="1580" b="0" i="0">
                <a:solidFill>
                  <a:srgbClr val="EAF2F3"/>
                </a:solidFill>
                <a:latin typeface="Consolas"/>
              </a:rPr>
              <a:t xml:space="preserve">  ret</a:t>
            </a:r>
            <a:endParaRPr lang="en-US" sz="1580"/>
          </a:p>
        </p:txBody>
      </p:sp>
      <p:sp>
        <p:nvSpPr>
          <p:cNvPr id="8" name="What the branch means"/>
          <p:cNvSpPr txBox="1"/>
          <p:nvPr/>
        </p:nvSpPr>
        <p:spPr>
          <a:xfrm>
            <a:off x="4978400" y="1282700"/>
            <a:ext cx="3505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50" b="1" i="0">
                <a:solidFill>
                  <a:srgbClr val="172333"/>
                </a:solidFill>
                <a:latin typeface="Arial"/>
              </a:rPr>
              <a:t xml:space="preserve">What the branch means</a:t>
            </a:r>
            <a:endParaRPr lang="en-US" sz="1850"/>
          </a:p>
        </p:txBody>
      </p:sp>
      <p:sp>
        <p:nvSpPr>
          <p:cNvPr id="9" name="The compare sets flags for unsig"/>
          <p:cNvSpPr txBox="1"/>
          <p:nvPr/>
        </p:nvSpPr>
        <p:spPr>
          <a:xfrm>
            <a:off x="4978400" y="1917700"/>
            <a:ext cx="3479800" cy="2044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516173"/>
                </a:solidFill>
                <a:latin typeface="Arial"/>
              </a:rPr>
              <a:t xml:space="preserve">The compare sets flags for unsigned RDI versus RSI. JAE keeps arg0 when it is at least arg1. Otherwise, RSI replaces the return value in RAX.</a:t>
            </a:r>
            <a:endParaRPr lang="en-US" sz="1700"/>
          </a:p>
        </p:txBody>
      </p:sp>
      <p:sp>
        <p:nvSpPr>
          <p:cNvPr id="10" name="Source: tests/fixtures/max2.S.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tests/fixtures/max2.S.</a:t>
            </a:r>
            <a:endParaRPr lang="en-US" sz="9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The branch is the behavior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The branch is the behavior</a:t>
            </a:r>
            <a:endParaRPr lang="en-US" sz="2300"/>
          </a:p>
        </p:txBody>
      </p:sp>
      <p:sp>
        <p:nvSpPr>
          <p:cNvPr id="5" name="11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11</a:t>
            </a:r>
            <a:endParaRPr lang="en-US" sz="1000"/>
          </a:p>
        </p:txBody>
      </p:sp>
      <p:sp>
        <p:nvSpPr>
          <p:cNvPr id="6" name="Rectangle"/>
          <p:cNvSpPr/>
          <p:nvPr/>
        </p:nvSpPr>
        <p:spPr>
          <a:xfrm>
            <a:off x="3187700" y="1282700"/>
            <a:ext cx="2755900" cy="660400"/>
          </a:xfrm>
          <a:prstGeom prst="rect">
            <a:avLst/>
          </a:prstGeom>
          <a:solidFill>
            <a:srgbClr val="1D2A3D"/>
          </a:solidFill>
          <a:ln>
            <a:noFill/>
          </a:ln>
        </p:spPr>
      </p:sp>
      <p:sp>
        <p:nvSpPr>
          <p:cNvPr id="7" name="arg0 &gt;= arg1 ?"/>
          <p:cNvSpPr txBox="1"/>
          <p:nvPr/>
        </p:nvSpPr>
        <p:spPr>
          <a:xfrm>
            <a:off x="3302000" y="1397000"/>
            <a:ext cx="25146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00" b="0" i="0">
                <a:solidFill>
                  <a:srgbClr val="FFFFFF"/>
                </a:solidFill>
                <a:latin typeface="Arial"/>
              </a:rPr>
              <a:t xml:space="preserve">arg0 &gt;= arg1 ?</a:t>
            </a:r>
            <a:endParaRPr lang="en-US" sz="1900"/>
          </a:p>
        </p:txBody>
      </p:sp>
      <p:sp>
        <p:nvSpPr>
          <p:cNvPr id="8" name="Rectangle"/>
          <p:cNvSpPr/>
          <p:nvPr/>
        </p:nvSpPr>
        <p:spPr>
          <a:xfrm>
            <a:off x="4559300" y="1943100"/>
            <a:ext cx="25400" cy="4953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9" name="Rectangle"/>
          <p:cNvSpPr/>
          <p:nvPr/>
        </p:nvSpPr>
        <p:spPr>
          <a:xfrm>
            <a:off x="2667000" y="2425700"/>
            <a:ext cx="38100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0" name="Rectangle"/>
          <p:cNvSpPr/>
          <p:nvPr/>
        </p:nvSpPr>
        <p:spPr>
          <a:xfrm>
            <a:off x="2667000" y="2425700"/>
            <a:ext cx="25400" cy="5588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1" name="Rectangle"/>
          <p:cNvSpPr/>
          <p:nvPr/>
        </p:nvSpPr>
        <p:spPr>
          <a:xfrm>
            <a:off x="6451600" y="2425700"/>
            <a:ext cx="25400" cy="5588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2" name="yes"/>
          <p:cNvSpPr txBox="1"/>
          <p:nvPr/>
        </p:nvSpPr>
        <p:spPr>
          <a:xfrm>
            <a:off x="1612900" y="2578100"/>
            <a:ext cx="965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50" b="0" i="0">
                <a:solidFill>
                  <a:srgbClr val="516173"/>
                </a:solidFill>
                <a:latin typeface="Arial"/>
              </a:rPr>
              <a:t xml:space="preserve">yes</a:t>
            </a:r>
            <a:endParaRPr lang="en-US" sz="1450"/>
          </a:p>
        </p:txBody>
      </p:sp>
      <p:sp>
        <p:nvSpPr>
          <p:cNvPr id="13" name="no"/>
          <p:cNvSpPr txBox="1"/>
          <p:nvPr/>
        </p:nvSpPr>
        <p:spPr>
          <a:xfrm>
            <a:off x="6565900" y="2578100"/>
            <a:ext cx="965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50" b="0" i="0">
                <a:solidFill>
                  <a:srgbClr val="516173"/>
                </a:solidFill>
                <a:latin typeface="Arial"/>
              </a:rPr>
              <a:t xml:space="preserve">no</a:t>
            </a:r>
            <a:endParaRPr lang="en-US" sz="1450"/>
          </a:p>
        </p:txBody>
      </p:sp>
      <p:sp>
        <p:nvSpPr>
          <p:cNvPr id="14" name="Rectangle"/>
          <p:cNvSpPr/>
          <p:nvPr/>
        </p:nvSpPr>
        <p:spPr>
          <a:xfrm>
            <a:off x="1003300" y="3060700"/>
            <a:ext cx="3314700" cy="863600"/>
          </a:xfrm>
          <a:prstGeom prst="rect">
            <a:avLst/>
          </a:prstGeom>
          <a:solidFill>
            <a:srgbClr val="E9F7F4"/>
          </a:solidFill>
          <a:ln>
            <a:noFill/>
          </a:ln>
        </p:spPr>
      </p:sp>
      <p:sp>
        <p:nvSpPr>
          <p:cNvPr id="15" name="return arg0"/>
          <p:cNvSpPr txBox="1"/>
          <p:nvPr/>
        </p:nvSpPr>
        <p:spPr>
          <a:xfrm>
            <a:off x="1117600" y="3251200"/>
            <a:ext cx="3073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50" b="0" i="0">
                <a:solidFill>
                  <a:srgbClr val="172333"/>
                </a:solidFill>
                <a:latin typeface="Arial"/>
              </a:rPr>
              <a:t xml:space="preserve">return arg0</a:t>
            </a:r>
            <a:endParaRPr lang="en-US" sz="1950"/>
          </a:p>
        </p:txBody>
      </p:sp>
      <p:sp>
        <p:nvSpPr>
          <p:cNvPr id="16" name="Rectangle"/>
          <p:cNvSpPr/>
          <p:nvPr/>
        </p:nvSpPr>
        <p:spPr>
          <a:xfrm>
            <a:off x="4851400" y="3060700"/>
            <a:ext cx="3314700" cy="863600"/>
          </a:xfrm>
          <a:prstGeom prst="rect">
            <a:avLst/>
          </a:prstGeom>
          <a:solidFill>
            <a:srgbClr val="E9F7F4"/>
          </a:solidFill>
          <a:ln>
            <a:noFill/>
          </a:ln>
        </p:spPr>
      </p:sp>
      <p:sp>
        <p:nvSpPr>
          <p:cNvPr id="17" name="return arg1"/>
          <p:cNvSpPr txBox="1"/>
          <p:nvPr/>
        </p:nvSpPr>
        <p:spPr>
          <a:xfrm>
            <a:off x="4953000" y="3251200"/>
            <a:ext cx="31115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50" b="0" i="0">
                <a:solidFill>
                  <a:srgbClr val="172333"/>
                </a:solidFill>
                <a:latin typeface="Arial"/>
              </a:rPr>
              <a:t xml:space="preserve">return arg1</a:t>
            </a:r>
            <a:endParaRPr lang="en-US" sz="1950"/>
          </a:p>
        </p:txBody>
      </p:sp>
      <p:sp>
        <p:nvSpPr>
          <p:cNvPr id="18" name="Derived from tests/fixtures/max2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Derived from tests/fixtures/max2.S and target/demo-video/max2-cfg.json.</a:t>
            </a:r>
            <a:endParaRPr lang="en-US" sz="9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Flags become explicit data flow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Flags become explicit data flow</a:t>
            </a:r>
            <a:endParaRPr lang="en-US" sz="2300"/>
          </a:p>
        </p:txBody>
      </p:sp>
      <p:sp>
        <p:nvSpPr>
          <p:cNvPr id="5" name="12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12</a:t>
            </a:r>
            <a:endParaRPr lang="en-US" sz="1000"/>
          </a:p>
        </p:txBody>
      </p:sp>
      <p:sp>
        <p:nvSpPr>
          <p:cNvPr id="6" name="Rectangle"/>
          <p:cNvSpPr/>
          <p:nvPr/>
        </p:nvSpPr>
        <p:spPr>
          <a:xfrm>
            <a:off x="508000" y="1371600"/>
            <a:ext cx="5499100" cy="2298700"/>
          </a:xfrm>
          <a:prstGeom prst="rect">
            <a:avLst/>
          </a:prstGeom>
          <a:solidFill>
            <a:srgbClr val="252B38"/>
          </a:solidFill>
          <a:ln>
            <a:noFill/>
          </a:ln>
        </p:spPr>
      </p:sp>
      <p:sp>
        <p:nvSpPr>
          <p:cNvPr id="7" name="%cf = icmp ult i64 %arg0, %arg1 "/>
          <p:cNvSpPr txBox="1"/>
          <p:nvPr/>
        </p:nvSpPr>
        <p:spPr>
          <a:xfrm>
            <a:off x="698500" y="1549400"/>
            <a:ext cx="5118100" cy="195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20" b="0" i="0">
                <a:solidFill>
                  <a:srgbClr val="EAF2F3"/>
                </a:solidFill>
                <a:latin typeface="Consolas"/>
              </a:rPr>
              <a:t xml:space="preserve">%cf = icmp ult i64 %arg0, %arg1</a:t>
            </a:r>
            <a:endParaRPr lang="en-US" sz="1420"/>
          </a:p>
          <a:p>
            <a:pPr algn="l"/>
            <a:r>
              <a:rPr lang="en-US" sz="1420" b="0" i="0">
                <a:solidFill>
                  <a:srgbClr val="EAF2F3"/>
                </a:solidFill>
                <a:latin typeface="Consolas"/>
              </a:rPr>
              <a:t xml:space="preserve">%keep_arg0 = xor i1 %cf, true</a:t>
            </a:r>
            <a:endParaRPr lang="en-US" sz="1420"/>
          </a:p>
          <a:p>
            <a:pPr algn="l"/>
            <a:r>
              <a:rPr lang="en-US" sz="1420" b="0" i="0">
                <a:solidFill>
                  <a:srgbClr val="EAF2F3"/>
                </a:solidFill>
                <a:latin typeface="Consolas"/>
              </a:rPr>
              <a:t xml:space="preserve">br i1 %keep_arg0, label %ret,</a:t>
            </a:r>
            <a:endParaRPr lang="en-US" sz="1420"/>
          </a:p>
          <a:p>
            <a:pPr algn="l"/>
            <a:r>
              <a:rPr lang="en-US" sz="1420" b="0" i="0">
                <a:solidFill>
                  <a:srgbClr val="EAF2F3"/>
                </a:solidFill>
                <a:latin typeface="Consolas"/>
              </a:rPr>
              <a:t xml:space="preserve">                 label %use_arg1</a:t>
            </a:r>
            <a:endParaRPr lang="en-US" sz="1420"/>
          </a:p>
        </p:txBody>
      </p:sp>
      <p:sp>
        <p:nvSpPr>
          <p:cNvPr id="8" name="Unsigned comparison"/>
          <p:cNvSpPr txBox="1"/>
          <p:nvPr/>
        </p:nvSpPr>
        <p:spPr>
          <a:xfrm>
            <a:off x="6350000" y="1409700"/>
            <a:ext cx="23495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1" i="0">
                <a:solidFill>
                  <a:srgbClr val="172333"/>
                </a:solidFill>
                <a:latin typeface="Arial"/>
              </a:rPr>
              <a:t xml:space="preserve">Unsigned comparison</a:t>
            </a:r>
            <a:endParaRPr lang="en-US" sz="1650"/>
          </a:p>
        </p:txBody>
      </p:sp>
      <p:sp>
        <p:nvSpPr>
          <p:cNvPr id="9" name="The carry flag becomes a boolean"/>
          <p:cNvSpPr txBox="1"/>
          <p:nvPr/>
        </p:nvSpPr>
        <p:spPr>
          <a:xfrm>
            <a:off x="6350000" y="1993900"/>
            <a:ext cx="2209800" cy="1473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516173"/>
                </a:solidFill>
                <a:latin typeface="Arial"/>
              </a:rPr>
              <a:t xml:space="preserve">The carry flag becomes a boolean value. The conditional branch names both successors.</a:t>
            </a:r>
            <a:endParaRPr lang="en-US" sz="1550"/>
          </a:p>
        </p:txBody>
      </p:sp>
      <p:sp>
        <p:nvSpPr>
          <p:cNvPr id="10" name="Readable excerpt from HydIR’s em"/>
          <p:cNvSpPr txBox="1"/>
          <p:nvPr/>
        </p:nvSpPr>
        <p:spPr>
          <a:xfrm>
            <a:off x="546100" y="3898900"/>
            <a:ext cx="79629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 i="0">
                <a:solidFill>
                  <a:srgbClr val="516173"/>
                </a:solidFill>
                <a:latin typeface="Arial"/>
              </a:rPr>
              <a:t xml:space="preserve">Readable excerpt from HydIR’s emitted IR. Variable names are shortened here.</a:t>
            </a:r>
            <a:endParaRPr lang="en-US" sz="1500"/>
          </a:p>
        </p:txBody>
      </p:sp>
      <p:sp>
        <p:nvSpPr>
          <p:cNvPr id="11" name="Source: target/demo-showcase/max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target/demo-showcase/max2.ll.</a:t>
            </a:r>
            <a:endParaRPr lang="en-US" sz="9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Scalar C is another view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Scalar C is another view</a:t>
            </a:r>
            <a:endParaRPr lang="en-US" sz="2300"/>
          </a:p>
        </p:txBody>
      </p:sp>
      <p:sp>
        <p:nvSpPr>
          <p:cNvPr id="5" name="13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13</a:t>
            </a:r>
            <a:endParaRPr lang="en-US" sz="1000"/>
          </a:p>
        </p:txBody>
      </p:sp>
      <p:sp>
        <p:nvSpPr>
          <p:cNvPr id="6" name="Rectangle"/>
          <p:cNvSpPr/>
          <p:nvPr/>
        </p:nvSpPr>
        <p:spPr>
          <a:xfrm>
            <a:off x="469900" y="1282700"/>
            <a:ext cx="4508500" cy="2959100"/>
          </a:xfrm>
          <a:prstGeom prst="rect">
            <a:avLst/>
          </a:prstGeom>
          <a:solidFill>
            <a:srgbClr val="252B38"/>
          </a:solidFill>
          <a:ln>
            <a:noFill/>
          </a:ln>
        </p:spPr>
      </p:sp>
      <p:sp>
        <p:nvSpPr>
          <p:cNvPr id="7" name="uint64_t hydir_lifted(     uint6"/>
          <p:cNvSpPr txBox="1"/>
          <p:nvPr/>
        </p:nvSpPr>
        <p:spPr>
          <a:xfrm>
            <a:off x="660400" y="1460500"/>
            <a:ext cx="4127500" cy="2616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uint64_t hydir_lifted(</a:t>
            </a:r>
            <a:endParaRPr lang="en-US" sz="1550"/>
          </a:p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    uint64_t arg0,</a:t>
            </a:r>
            <a:endParaRPr lang="en-US" sz="1550"/>
          </a:p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    uint64_t arg1) {</a:t>
            </a:r>
            <a:endParaRPr lang="en-US" sz="1550"/>
          </a:p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  return arg0 &gt;= arg1</a:t>
            </a:r>
            <a:endParaRPr lang="en-US" sz="1550"/>
          </a:p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    ? arg0 : arg1;</a:t>
            </a:r>
            <a:endParaRPr lang="en-US" sz="1550"/>
          </a:p>
          <a:p>
            <a:pPr algn="l"/>
            <a:r>
              <a:rPr lang="en-US" sz="1550" b="0" i="0">
                <a:solidFill>
                  <a:srgbClr val="EAF2F3"/>
                </a:solidFill>
                <a:latin typeface="Consolas"/>
              </a:rPr>
              <a:t xml:space="preserve">}</a:t>
            </a:r>
            <a:endParaRPr lang="en-US" sz="1550"/>
          </a:p>
        </p:txBody>
      </p:sp>
      <p:sp>
        <p:nvSpPr>
          <p:cNvPr id="8" name="What it communicates"/>
          <p:cNvSpPr txBox="1"/>
          <p:nvPr/>
        </p:nvSpPr>
        <p:spPr>
          <a:xfrm>
            <a:off x="5384800" y="1371600"/>
            <a:ext cx="31877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What it communicates</a:t>
            </a:r>
            <a:endParaRPr lang="en-US" sz="1800"/>
          </a:p>
        </p:txBody>
      </p:sp>
      <p:sp>
        <p:nvSpPr>
          <p:cNvPr id="9" name="The unsigned max idiom reads cle"/>
          <p:cNvSpPr txBox="1"/>
          <p:nvPr/>
        </p:nvSpPr>
        <p:spPr>
          <a:xfrm>
            <a:off x="5384800" y="1968500"/>
            <a:ext cx="31115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516173"/>
                </a:solidFill>
                <a:latin typeface="Arial"/>
              </a:rPr>
              <a:t xml:space="preserve">The unsigned max idiom reads clearly here. The CFG and IR still preserve the lower-level branch and flag evidence behind it.</a:t>
            </a:r>
            <a:endParaRPr lang="en-US" sz="1650"/>
          </a:p>
        </p:txBody>
      </p:sp>
      <p:sp>
        <p:nvSpPr>
          <p:cNvPr id="10" name="High-level structured C recovery"/>
          <p:cNvSpPr txBox="1"/>
          <p:nvPr/>
        </p:nvSpPr>
        <p:spPr>
          <a:xfrm>
            <a:off x="5384800" y="3746500"/>
            <a:ext cx="30988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18A79C"/>
                </a:solidFill>
                <a:latin typeface="Arial"/>
              </a:rPr>
              <a:t xml:space="preserve">High-level structured C recovery is not implemented yet.</a:t>
            </a:r>
            <a:endParaRPr lang="en-US" sz="1550"/>
          </a:p>
        </p:txBody>
      </p:sp>
      <p:sp>
        <p:nvSpPr>
          <p:cNvPr id="11" name="Source: target/demo-video/max2-s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target/demo-video/max2-structured.c; README.md.</a:t>
            </a:r>
            <a:endParaRPr lang="en-US" sz="9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LLVM IR enables controlled exper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LLVM IR enables controlled experiments</a:t>
            </a:r>
            <a:endParaRPr lang="en-US" sz="2300"/>
          </a:p>
        </p:txBody>
      </p:sp>
      <p:sp>
        <p:nvSpPr>
          <p:cNvPr id="5" name="14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14</a:t>
            </a:r>
            <a:endParaRPr lang="en-US" sz="1000"/>
          </a:p>
        </p:txBody>
      </p:sp>
      <p:sp>
        <p:nvSpPr>
          <p:cNvPr id="6" name="raw.ll"/>
          <p:cNvSpPr txBox="1"/>
          <p:nvPr/>
        </p:nvSpPr>
        <p:spPr>
          <a:xfrm>
            <a:off x="533400" y="1270000"/>
            <a:ext cx="15240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raw.ll</a:t>
            </a:r>
            <a:endParaRPr lang="en-US" sz="2000"/>
          </a:p>
        </p:txBody>
      </p:sp>
      <p:sp>
        <p:nvSpPr>
          <p:cNvPr id="7" name="→"/>
          <p:cNvSpPr txBox="1"/>
          <p:nvPr/>
        </p:nvSpPr>
        <p:spPr>
          <a:xfrm>
            <a:off x="2019300" y="1257300"/>
            <a:ext cx="6096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600" b="0" i="0">
                <a:solidFill>
                  <a:srgbClr val="18A79C"/>
                </a:solidFill>
                <a:latin typeface="Arial"/>
              </a:rPr>
              <a:t xml:space="preserve">→</a:t>
            </a:r>
            <a:endParaRPr lang="en-US" sz="2600"/>
          </a:p>
        </p:txBody>
      </p:sp>
      <p:sp>
        <p:nvSpPr>
          <p:cNvPr id="8" name="verified before.ll"/>
          <p:cNvSpPr txBox="1"/>
          <p:nvPr/>
        </p:nvSpPr>
        <p:spPr>
          <a:xfrm>
            <a:off x="2590800" y="1270000"/>
            <a:ext cx="26543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verified before.ll</a:t>
            </a:r>
            <a:endParaRPr lang="en-US" sz="2000"/>
          </a:p>
        </p:txBody>
      </p:sp>
      <p:sp>
        <p:nvSpPr>
          <p:cNvPr id="9" name="→"/>
          <p:cNvSpPr txBox="1"/>
          <p:nvPr/>
        </p:nvSpPr>
        <p:spPr>
          <a:xfrm>
            <a:off x="5219700" y="1257300"/>
            <a:ext cx="6096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600" b="0" i="0">
                <a:solidFill>
                  <a:srgbClr val="18A79C"/>
                </a:solidFill>
                <a:latin typeface="Arial"/>
              </a:rPr>
              <a:t xml:space="preserve">→</a:t>
            </a:r>
            <a:endParaRPr lang="en-US" sz="2600"/>
          </a:p>
        </p:txBody>
      </p:sp>
      <p:sp>
        <p:nvSpPr>
          <p:cNvPr id="10" name="verified after.ll"/>
          <p:cNvSpPr txBox="1"/>
          <p:nvPr/>
        </p:nvSpPr>
        <p:spPr>
          <a:xfrm>
            <a:off x="5803900" y="1270000"/>
            <a:ext cx="285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verified after.ll</a:t>
            </a:r>
            <a:endParaRPr lang="en-US" sz="2000"/>
          </a:p>
        </p:txBody>
      </p:sp>
      <p:sp>
        <p:nvSpPr>
          <p:cNvPr id="11" name="Rectangle"/>
          <p:cNvSpPr/>
          <p:nvPr/>
        </p:nvSpPr>
        <p:spPr>
          <a:xfrm>
            <a:off x="635000" y="2006600"/>
            <a:ext cx="7861300" cy="25400"/>
          </a:xfrm>
          <a:prstGeom prst="rect">
            <a:avLst/>
          </a:prstGeom>
          <a:solidFill>
            <a:srgbClr val="D8E2E9"/>
          </a:solidFill>
          <a:ln>
            <a:noFill/>
          </a:ln>
        </p:spPr>
      </p:sp>
      <p:sp>
        <p:nvSpPr>
          <p:cNvPr id="12" name="InstCombine"/>
          <p:cNvSpPr txBox="1"/>
          <p:nvPr/>
        </p:nvSpPr>
        <p:spPr>
          <a:xfrm>
            <a:off x="546100" y="2413000"/>
            <a:ext cx="1778000" cy="393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1" i="0">
                <a:solidFill>
                  <a:srgbClr val="18A79C"/>
                </a:solidFill>
                <a:latin typeface="Arial"/>
              </a:rPr>
              <a:t xml:space="preserve">InstCombine</a:t>
            </a:r>
            <a:endParaRPr lang="en-US" sz="1650"/>
          </a:p>
        </p:txBody>
      </p:sp>
      <p:sp>
        <p:nvSpPr>
          <p:cNvPr id="13" name="simplify instructions"/>
          <p:cNvSpPr txBox="1"/>
          <p:nvPr/>
        </p:nvSpPr>
        <p:spPr>
          <a:xfrm>
            <a:off x="546100" y="2857500"/>
            <a:ext cx="18161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0" i="0">
                <a:solidFill>
                  <a:srgbClr val="516173"/>
                </a:solidFill>
                <a:latin typeface="Arial"/>
              </a:rPr>
              <a:t xml:space="preserve">simplify instructions</a:t>
            </a:r>
            <a:endParaRPr lang="en-US" sz="1450"/>
          </a:p>
        </p:txBody>
      </p:sp>
      <p:sp>
        <p:nvSpPr>
          <p:cNvPr id="14" name="SCCP"/>
          <p:cNvSpPr txBox="1"/>
          <p:nvPr/>
        </p:nvSpPr>
        <p:spPr>
          <a:xfrm>
            <a:off x="2565400" y="2413000"/>
            <a:ext cx="1371600" cy="393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1" i="0">
                <a:solidFill>
                  <a:srgbClr val="18A79C"/>
                </a:solidFill>
                <a:latin typeface="Arial"/>
              </a:rPr>
              <a:t xml:space="preserve">SCCP</a:t>
            </a:r>
            <a:endParaRPr lang="en-US" sz="1650"/>
          </a:p>
        </p:txBody>
      </p:sp>
      <p:sp>
        <p:nvSpPr>
          <p:cNvPr id="15" name="propagate constants"/>
          <p:cNvSpPr txBox="1"/>
          <p:nvPr/>
        </p:nvSpPr>
        <p:spPr>
          <a:xfrm>
            <a:off x="2565400" y="28575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0" i="0">
                <a:solidFill>
                  <a:srgbClr val="516173"/>
                </a:solidFill>
                <a:latin typeface="Arial"/>
              </a:rPr>
              <a:t xml:space="preserve">propagate constants</a:t>
            </a:r>
            <a:endParaRPr lang="en-US" sz="1450"/>
          </a:p>
        </p:txBody>
      </p:sp>
      <p:sp>
        <p:nvSpPr>
          <p:cNvPr id="16" name="SimplifyCFG"/>
          <p:cNvSpPr txBox="1"/>
          <p:nvPr/>
        </p:nvSpPr>
        <p:spPr>
          <a:xfrm>
            <a:off x="4686300" y="2413000"/>
            <a:ext cx="1803400" cy="393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1" i="0">
                <a:solidFill>
                  <a:srgbClr val="18A79C"/>
                </a:solidFill>
                <a:latin typeface="Arial"/>
              </a:rPr>
              <a:t xml:space="preserve">SimplifyCFG</a:t>
            </a:r>
            <a:endParaRPr lang="en-US" sz="1650"/>
          </a:p>
        </p:txBody>
      </p:sp>
      <p:sp>
        <p:nvSpPr>
          <p:cNvPr id="17" name="merge and prune blocks"/>
          <p:cNvSpPr txBox="1"/>
          <p:nvPr/>
        </p:nvSpPr>
        <p:spPr>
          <a:xfrm>
            <a:off x="4686300" y="2857500"/>
            <a:ext cx="1778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0" i="0">
                <a:solidFill>
                  <a:srgbClr val="516173"/>
                </a:solidFill>
                <a:latin typeface="Arial"/>
              </a:rPr>
              <a:t xml:space="preserve">merge and prune blocks</a:t>
            </a:r>
            <a:endParaRPr lang="en-US" sz="1450"/>
          </a:p>
        </p:txBody>
      </p:sp>
      <p:sp>
        <p:nvSpPr>
          <p:cNvPr id="18" name="DCE"/>
          <p:cNvSpPr txBox="1"/>
          <p:nvPr/>
        </p:nvSpPr>
        <p:spPr>
          <a:xfrm>
            <a:off x="6921500" y="2413000"/>
            <a:ext cx="1270000" cy="393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1" i="0">
                <a:solidFill>
                  <a:srgbClr val="18A79C"/>
                </a:solidFill>
                <a:latin typeface="Arial"/>
              </a:rPr>
              <a:t xml:space="preserve">DCE</a:t>
            </a:r>
            <a:endParaRPr lang="en-US" sz="1650"/>
          </a:p>
        </p:txBody>
      </p:sp>
      <p:sp>
        <p:nvSpPr>
          <p:cNvPr id="19" name="remove dead work"/>
          <p:cNvSpPr txBox="1"/>
          <p:nvPr/>
        </p:nvSpPr>
        <p:spPr>
          <a:xfrm>
            <a:off x="6921500" y="2857500"/>
            <a:ext cx="14605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0" i="0">
                <a:solidFill>
                  <a:srgbClr val="516173"/>
                </a:solidFill>
                <a:latin typeface="Arial"/>
              </a:rPr>
              <a:t xml:space="preserve">remove dead work</a:t>
            </a:r>
            <a:endParaRPr lang="en-US" sz="1450"/>
          </a:p>
        </p:txBody>
      </p:sp>
      <p:sp>
        <p:nvSpPr>
          <p:cNvPr id="20" name="An IR change and a verifier pass"/>
          <p:cNvSpPr txBox="1"/>
          <p:nvPr/>
        </p:nvSpPr>
        <p:spPr>
          <a:xfrm>
            <a:off x="546100" y="3835400"/>
            <a:ext cx="79502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172333"/>
                </a:solidFill>
                <a:latin typeface="Arial"/>
              </a:rPr>
              <a:t xml:space="preserve">An IR change and a verifier pass do not prove behavior stayed the same.</a:t>
            </a:r>
            <a:endParaRPr lang="en-US" sz="1700"/>
          </a:p>
        </p:txBody>
      </p:sp>
      <p:sp>
        <p:nvSpPr>
          <p:cNvPr id="21" name="Sources: crates/hydir-transform/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Sources: crates/hydir-transform/src/lib.rs; llvm.org/docs/Passes.html.</a:t>
            </a:r>
            <a:endParaRPr lang="en-US" sz="9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Verification needs an independen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Verification needs an independent check</a:t>
            </a:r>
            <a:endParaRPr lang="en-US" sz="2300"/>
          </a:p>
        </p:txBody>
      </p:sp>
      <p:sp>
        <p:nvSpPr>
          <p:cNvPr id="5" name="15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15</a:t>
            </a:r>
            <a:endParaRPr lang="en-US" sz="1000"/>
          </a:p>
        </p:txBody>
      </p:sp>
      <p:sp>
        <p:nvSpPr>
          <p:cNvPr id="6" name="Native executable"/>
          <p:cNvSpPr txBox="1"/>
          <p:nvPr/>
        </p:nvSpPr>
        <p:spPr>
          <a:xfrm>
            <a:off x="546100" y="1358900"/>
            <a:ext cx="3594100" cy="520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Native executable</a:t>
            </a:r>
            <a:endParaRPr lang="en-US" sz="2000"/>
          </a:p>
        </p:txBody>
      </p:sp>
      <p:sp>
        <p:nvSpPr>
          <p:cNvPr id="7" name="Lifted LLVM / compiled C"/>
          <p:cNvSpPr txBox="1"/>
          <p:nvPr/>
        </p:nvSpPr>
        <p:spPr>
          <a:xfrm>
            <a:off x="4965700" y="1358900"/>
            <a:ext cx="3606800" cy="520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Lifted LLVM / compiled C</a:t>
            </a:r>
            <a:endParaRPr lang="en-US" sz="2000"/>
          </a:p>
        </p:txBody>
      </p:sp>
      <p:sp>
        <p:nvSpPr>
          <p:cNvPr id="8" name="Rectangle"/>
          <p:cNvSpPr/>
          <p:nvPr/>
        </p:nvSpPr>
        <p:spPr>
          <a:xfrm>
            <a:off x="1231900" y="1993900"/>
            <a:ext cx="22479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9" name="Rectangle"/>
          <p:cNvSpPr/>
          <p:nvPr/>
        </p:nvSpPr>
        <p:spPr>
          <a:xfrm>
            <a:off x="5676900" y="1993900"/>
            <a:ext cx="21844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0" name="same chosen inputs"/>
          <p:cNvSpPr txBox="1"/>
          <p:nvPr/>
        </p:nvSpPr>
        <p:spPr>
          <a:xfrm>
            <a:off x="2679700" y="2679700"/>
            <a:ext cx="3784600" cy="520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00" b="1" i="0">
                <a:solidFill>
                  <a:srgbClr val="18A79C"/>
                </a:solidFill>
                <a:latin typeface="Arial"/>
              </a:rPr>
              <a:t xml:space="preserve">same chosen inputs</a:t>
            </a:r>
            <a:endParaRPr lang="en-US" sz="1900"/>
          </a:p>
        </p:txBody>
      </p:sp>
      <p:sp>
        <p:nvSpPr>
          <p:cNvPr id="11" name="Compare observable results"/>
          <p:cNvSpPr txBox="1"/>
          <p:nvPr/>
        </p:nvSpPr>
        <p:spPr>
          <a:xfrm>
            <a:off x="2616200" y="3390900"/>
            <a:ext cx="3987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172333"/>
                </a:solidFill>
                <a:latin typeface="Arial"/>
              </a:rPr>
              <a:t xml:space="preserve">Compare observable results</a:t>
            </a:r>
            <a:endParaRPr lang="en-US" sz="2000"/>
          </a:p>
        </p:txBody>
      </p:sp>
      <p:sp>
        <p:nvSpPr>
          <p:cNvPr id="12" name="For the scalar demos, HydIR comp"/>
          <p:cNvSpPr txBox="1"/>
          <p:nvPr/>
        </p:nvSpPr>
        <p:spPr>
          <a:xfrm>
            <a:off x="622300" y="4114800"/>
            <a:ext cx="7899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80" b="0" i="0">
                <a:solidFill>
                  <a:srgbClr val="516173"/>
                </a:solidFill>
                <a:latin typeface="Arial"/>
              </a:rPr>
              <a:t xml:space="preserve">For the scalar demos, HydIR compares results against native execution on Linux x86-64.</a:t>
            </a:r>
            <a:endParaRPr lang="en-US" sz="1480"/>
          </a:p>
        </p:txBody>
      </p:sp>
      <p:sp>
        <p:nvSpPr>
          <p:cNvPr id="13" name="Source: README.md, “Build and in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README.md, “Build and inspect”.</a:t>
            </a:r>
            <a:endParaRPr lang="en-US" sz="9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C2E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0" y="0"/>
            <a:ext cx="88900" cy="51435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16"/>
          <p:cNvSpPr txBox="1"/>
          <p:nvPr/>
        </p:nvSpPr>
        <p:spPr>
          <a:xfrm>
            <a:off x="8394700" y="47117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192A5"/>
                </a:solidFill>
                <a:latin typeface="Arial"/>
              </a:rPr>
              <a:t xml:space="preserve">16</a:t>
            </a:r>
            <a:endParaRPr lang="en-US" sz="1000"/>
          </a:p>
        </p:txBody>
      </p:sp>
      <p:sp>
        <p:nvSpPr>
          <p:cNvPr id="5" name="20"/>
          <p:cNvSpPr txBox="1"/>
          <p:nvPr/>
        </p:nvSpPr>
        <p:spPr>
          <a:xfrm>
            <a:off x="571500" y="1155700"/>
            <a:ext cx="3365500" cy="1333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000" b="0" i="0">
                <a:solidFill>
                  <a:srgbClr val="FFFFFF"/>
                </a:solidFill>
                <a:latin typeface="Arial"/>
              </a:rPr>
              <a:t xml:space="preserve">20</a:t>
            </a:r>
            <a:endParaRPr lang="en-US" sz="7000"/>
          </a:p>
        </p:txBody>
      </p:sp>
      <p:sp>
        <p:nvSpPr>
          <p:cNvPr id="6" name="distinct supported scalar functi"/>
          <p:cNvSpPr txBox="1"/>
          <p:nvPr/>
        </p:nvSpPr>
        <p:spPr>
          <a:xfrm>
            <a:off x="723900" y="2628900"/>
            <a:ext cx="3124200" cy="850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700" b="0" i="0">
                <a:solidFill>
                  <a:srgbClr val="B8C6D2"/>
                </a:solidFill>
                <a:latin typeface="Arial"/>
              </a:rPr>
              <a:t xml:space="preserve">distinct supported scalar functions</a:t>
            </a:r>
            <a:endParaRPr lang="en-US" sz="1700"/>
          </a:p>
        </p:txBody>
      </p:sp>
      <p:sp>
        <p:nvSpPr>
          <p:cNvPr id="7" name="1,008"/>
          <p:cNvSpPr txBox="1"/>
          <p:nvPr/>
        </p:nvSpPr>
        <p:spPr>
          <a:xfrm>
            <a:off x="4991100" y="1155700"/>
            <a:ext cx="3302000" cy="1333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000" b="0" i="0">
                <a:solidFill>
                  <a:srgbClr val="FFFFFF"/>
                </a:solidFill>
                <a:latin typeface="Arial"/>
              </a:rPr>
              <a:t xml:space="preserve">1,008</a:t>
            </a:r>
            <a:endParaRPr lang="en-US" sz="7000"/>
          </a:p>
        </p:txBody>
      </p:sp>
      <p:sp>
        <p:nvSpPr>
          <p:cNvPr id="8" name="inputs per function in the local"/>
          <p:cNvSpPr txBox="1"/>
          <p:nvPr/>
        </p:nvSpPr>
        <p:spPr>
          <a:xfrm>
            <a:off x="5041900" y="2628900"/>
            <a:ext cx="3225800" cy="850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700" b="0" i="0">
                <a:solidFill>
                  <a:srgbClr val="B8C6D2"/>
                </a:solidFill>
                <a:latin typeface="Arial"/>
              </a:rPr>
              <a:t xml:space="preserve">inputs per function in the local demos</a:t>
            </a:r>
            <a:endParaRPr lang="en-US" sz="1700"/>
          </a:p>
        </p:txBody>
      </p:sp>
      <p:sp>
        <p:nvSpPr>
          <p:cNvPr id="9" name="Rectangle"/>
          <p:cNvSpPr/>
          <p:nvPr/>
        </p:nvSpPr>
        <p:spPr>
          <a:xfrm>
            <a:off x="571500" y="3886200"/>
            <a:ext cx="79248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0" name="The corpus covers a deliberate s"/>
          <p:cNvSpPr txBox="1"/>
          <p:nvPr/>
        </p:nvSpPr>
        <p:spPr>
          <a:xfrm>
            <a:off x="673100" y="4064000"/>
            <a:ext cx="7708900" cy="596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540" b="0" i="0">
                <a:solidFill>
                  <a:srgbClr val="B8C6D2"/>
                </a:solidFill>
                <a:latin typeface="Arial"/>
              </a:rPr>
              <a:t xml:space="preserve">The corpus covers a deliberate scalar subset. It does not establish general binary correctness.</a:t>
            </a:r>
            <a:endParaRPr lang="en-US" sz="154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A workbench for inspecting the r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A workbench for inspecting the result</a:t>
            </a:r>
            <a:endParaRPr lang="en-US" sz="2300"/>
          </a:p>
        </p:txBody>
      </p:sp>
      <p:sp>
        <p:nvSpPr>
          <p:cNvPr id="5" name="17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17</a:t>
            </a:r>
            <a:endParaRPr lang="en-US" sz="1000"/>
          </a:p>
        </p:txBody>
      </p:sp>
      <p:sp>
        <p:nvSpPr>
          <p:cNvPr id="6" name="Rectangle"/>
          <p:cNvSpPr/>
          <p:nvPr/>
        </p:nvSpPr>
        <p:spPr>
          <a:xfrm>
            <a:off x="533400" y="1371600"/>
            <a:ext cx="18796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7" name="Navigator"/>
          <p:cNvSpPr txBox="1"/>
          <p:nvPr/>
        </p:nvSpPr>
        <p:spPr>
          <a:xfrm>
            <a:off x="533400" y="1600200"/>
            <a:ext cx="18796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Navigator</a:t>
            </a:r>
            <a:endParaRPr lang="en-US" sz="1800"/>
          </a:p>
        </p:txBody>
      </p:sp>
      <p:sp>
        <p:nvSpPr>
          <p:cNvPr id="8" name="Pick symbols and functions"/>
          <p:cNvSpPr txBox="1"/>
          <p:nvPr/>
        </p:nvSpPr>
        <p:spPr>
          <a:xfrm>
            <a:off x="533400" y="2159000"/>
            <a:ext cx="1879600" cy="1079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516173"/>
                </a:solidFill>
                <a:latin typeface="Arial"/>
              </a:rPr>
              <a:t xml:space="preserve">Pick symbols and functions</a:t>
            </a:r>
            <a:endParaRPr lang="en-US" sz="1550"/>
          </a:p>
        </p:txBody>
      </p:sp>
      <p:sp>
        <p:nvSpPr>
          <p:cNvPr id="9" name="Rectangle"/>
          <p:cNvSpPr/>
          <p:nvPr/>
        </p:nvSpPr>
        <p:spPr>
          <a:xfrm>
            <a:off x="2552700" y="1371600"/>
            <a:ext cx="18415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0" name="Graph"/>
          <p:cNvSpPr txBox="1"/>
          <p:nvPr/>
        </p:nvSpPr>
        <p:spPr>
          <a:xfrm>
            <a:off x="2552700" y="1600200"/>
            <a:ext cx="18415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Graph</a:t>
            </a:r>
            <a:endParaRPr lang="en-US" sz="1800"/>
          </a:p>
        </p:txBody>
      </p:sp>
      <p:sp>
        <p:nvSpPr>
          <p:cNvPr id="11" name="Follow reachable blocks"/>
          <p:cNvSpPr txBox="1"/>
          <p:nvPr/>
        </p:nvSpPr>
        <p:spPr>
          <a:xfrm>
            <a:off x="2552700" y="2159000"/>
            <a:ext cx="1841500" cy="1079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516173"/>
                </a:solidFill>
                <a:latin typeface="Arial"/>
              </a:rPr>
              <a:t xml:space="preserve">Follow reachable blocks</a:t>
            </a:r>
            <a:endParaRPr lang="en-US" sz="1550"/>
          </a:p>
        </p:txBody>
      </p:sp>
      <p:sp>
        <p:nvSpPr>
          <p:cNvPr id="12" name="Rectangle"/>
          <p:cNvSpPr/>
          <p:nvPr/>
        </p:nvSpPr>
        <p:spPr>
          <a:xfrm>
            <a:off x="4546600" y="1371600"/>
            <a:ext cx="17399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3" name="IR + C"/>
          <p:cNvSpPr txBox="1"/>
          <p:nvPr/>
        </p:nvSpPr>
        <p:spPr>
          <a:xfrm>
            <a:off x="4546600" y="1600200"/>
            <a:ext cx="17399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IR + C</a:t>
            </a:r>
            <a:endParaRPr lang="en-US" sz="1800"/>
          </a:p>
        </p:txBody>
      </p:sp>
      <p:sp>
        <p:nvSpPr>
          <p:cNvPr id="14" name="Read lifted artifacts"/>
          <p:cNvSpPr txBox="1"/>
          <p:nvPr/>
        </p:nvSpPr>
        <p:spPr>
          <a:xfrm>
            <a:off x="4546600" y="2159000"/>
            <a:ext cx="1739900" cy="1079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516173"/>
                </a:solidFill>
                <a:latin typeface="Arial"/>
              </a:rPr>
              <a:t xml:space="preserve">Read lifted artifacts</a:t>
            </a:r>
            <a:endParaRPr lang="en-US" sz="1550"/>
          </a:p>
        </p:txBody>
      </p:sp>
      <p:sp>
        <p:nvSpPr>
          <p:cNvPr id="15" name="Rectangle"/>
          <p:cNvSpPr/>
          <p:nvPr/>
        </p:nvSpPr>
        <p:spPr>
          <a:xfrm>
            <a:off x="6477000" y="1371600"/>
            <a:ext cx="21844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6" name="Console"/>
          <p:cNvSpPr txBox="1"/>
          <p:nvPr/>
        </p:nvSpPr>
        <p:spPr>
          <a:xfrm>
            <a:off x="6477000" y="16002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Console</a:t>
            </a:r>
            <a:endParaRPr lang="en-US" sz="1800"/>
          </a:p>
        </p:txBody>
      </p:sp>
      <p:sp>
        <p:nvSpPr>
          <p:cNvPr id="17" name="Review warnings and reports"/>
          <p:cNvSpPr txBox="1"/>
          <p:nvPr/>
        </p:nvSpPr>
        <p:spPr>
          <a:xfrm>
            <a:off x="6477000" y="2159000"/>
            <a:ext cx="2184400" cy="1079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516173"/>
                </a:solidFill>
                <a:latin typeface="Arial"/>
              </a:rPr>
              <a:t xml:space="preserve">Review warnings and reports</a:t>
            </a:r>
            <a:endParaRPr lang="en-US" sz="1550"/>
          </a:p>
        </p:txBody>
      </p:sp>
      <p:sp>
        <p:nvSpPr>
          <p:cNvPr id="18" name="Local ELF opening stays local. U"/>
          <p:cNvSpPr txBox="1"/>
          <p:nvPr/>
        </p:nvSpPr>
        <p:spPr>
          <a:xfrm>
            <a:off x="571500" y="3644900"/>
            <a:ext cx="78613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18A79C"/>
                </a:solidFill>
                <a:latin typeface="Arial"/>
              </a:rPr>
              <a:t xml:space="preserve">Local ELF opening stays local. Uploading a binary requires a separate labelled action.</a:t>
            </a:r>
            <a:endParaRPr lang="en-US" sz="1700"/>
          </a:p>
        </p:txBody>
      </p:sp>
      <p:sp>
        <p:nvSpPr>
          <p:cNvPr id="19" name="Source: README.md, desktop workb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README.md, desktop workbench description.</a:t>
            </a:r>
            <a:endParaRPr lang="en-US" sz="9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Two project contexts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Two project contexts</a:t>
            </a:r>
            <a:endParaRPr lang="en-US" sz="2300"/>
          </a:p>
        </p:txBody>
      </p:sp>
      <p:sp>
        <p:nvSpPr>
          <p:cNvPr id="5" name="18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18</a:t>
            </a:r>
            <a:endParaRPr lang="en-US" sz="1000"/>
          </a:p>
        </p:txBody>
      </p:sp>
      <p:sp>
        <p:nvSpPr>
          <p:cNvPr id="6" name="Local"/>
          <p:cNvSpPr txBox="1"/>
          <p:nvPr/>
        </p:nvSpPr>
        <p:spPr>
          <a:xfrm>
            <a:off x="571500" y="12827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1" i="0">
                <a:solidFill>
                  <a:srgbClr val="172333"/>
                </a:solidFill>
                <a:latin typeface="Arial"/>
              </a:rPr>
              <a:t xml:space="preserve">Local</a:t>
            </a:r>
            <a:endParaRPr lang="en-US" sz="2300"/>
          </a:p>
        </p:txBody>
      </p:sp>
      <p:sp>
        <p:nvSpPr>
          <p:cNvPr id="7" name="Remote"/>
          <p:cNvSpPr txBox="1"/>
          <p:nvPr/>
        </p:nvSpPr>
        <p:spPr>
          <a:xfrm>
            <a:off x="4991100" y="12827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1" i="0">
                <a:solidFill>
                  <a:srgbClr val="172333"/>
                </a:solidFill>
                <a:latin typeface="Arial"/>
              </a:rPr>
              <a:t xml:space="preserve">Remote</a:t>
            </a:r>
            <a:endParaRPr lang="en-US" sz="2300"/>
          </a:p>
        </p:txBody>
      </p:sp>
      <p:sp>
        <p:nvSpPr>
          <p:cNvPr id="8" name="Rectangle"/>
          <p:cNvSpPr/>
          <p:nvPr/>
        </p:nvSpPr>
        <p:spPr>
          <a:xfrm>
            <a:off x="571500" y="1879600"/>
            <a:ext cx="34798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9" name="Rectangle"/>
          <p:cNvSpPr/>
          <p:nvPr/>
        </p:nvSpPr>
        <p:spPr>
          <a:xfrm>
            <a:off x="4991100" y="1879600"/>
            <a:ext cx="34798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0" name="Private on-device SQLite ledger."/>
          <p:cNvSpPr txBox="1"/>
          <p:nvPr/>
        </p:nvSpPr>
        <p:spPr>
          <a:xfrm>
            <a:off x="571500" y="2197100"/>
            <a:ext cx="3505200" cy="177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40" b="0" i="0">
                <a:solidFill>
                  <a:srgbClr val="516173"/>
                </a:solidFill>
                <a:latin typeface="Arial"/>
              </a:rPr>
              <a:t xml:space="preserve">Private on-device SQLite ledger. Path-bound binary identity. Analyst names, comments, and scoped assumptions.</a:t>
            </a:r>
            <a:endParaRPr lang="en-US" sz="1640"/>
          </a:p>
        </p:txBody>
      </p:sp>
      <p:sp>
        <p:nvSpPr>
          <p:cNvPr id="11" name="Authenticated loopback service. "/>
          <p:cNvSpPr txBox="1"/>
          <p:nvPr/>
        </p:nvSpPr>
        <p:spPr>
          <a:xfrm>
            <a:off x="4991100" y="2197100"/>
            <a:ext cx="3492500" cy="177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40" b="0" i="0">
                <a:solidFill>
                  <a:srgbClr val="516173"/>
                </a:solidFill>
                <a:latin typeface="Arial"/>
              </a:rPr>
              <a:t xml:space="preserve">Authenticated loopback service. Explicit upload creates an immutable binary revision. Lift jobs can be monitored and cancelled.</a:t>
            </a:r>
            <a:endParaRPr lang="en-US" sz="1640"/>
          </a:p>
        </p:txBody>
      </p:sp>
      <p:sp>
        <p:nvSpPr>
          <p:cNvPr id="12" name="The ledgers do not automatically"/>
          <p:cNvSpPr txBox="1"/>
          <p:nvPr/>
        </p:nvSpPr>
        <p:spPr>
          <a:xfrm>
            <a:off x="571500" y="4051300"/>
            <a:ext cx="7874000" cy="444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18A79C"/>
                </a:solidFill>
                <a:latin typeface="Arial"/>
              </a:rPr>
              <a:t xml:space="preserve">The ledgers do not automatically sync.</a:t>
            </a:r>
            <a:endParaRPr lang="en-US" sz="1700"/>
          </a:p>
        </p:txBody>
      </p:sp>
      <p:sp>
        <p:nvSpPr>
          <p:cNvPr id="13" name="Source: README.md, local and rem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README.md, local and remote project sections.</a:t>
            </a:r>
            <a:endParaRPr lang="en-US" sz="9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Changes leave a trail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Changes leave a trail</a:t>
            </a:r>
            <a:endParaRPr lang="en-US" sz="2300"/>
          </a:p>
        </p:txBody>
      </p:sp>
      <p:sp>
        <p:nvSpPr>
          <p:cNvPr id="5" name="19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19</a:t>
            </a:r>
            <a:endParaRPr lang="en-US" sz="1000"/>
          </a:p>
        </p:txBody>
      </p:sp>
      <p:sp>
        <p:nvSpPr>
          <p:cNvPr id="6" name="Original ELF"/>
          <p:cNvSpPr txBox="1"/>
          <p:nvPr/>
        </p:nvSpPr>
        <p:spPr>
          <a:xfrm>
            <a:off x="520700" y="1422400"/>
            <a:ext cx="22733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00" b="1" i="0">
                <a:solidFill>
                  <a:srgbClr val="172333"/>
                </a:solidFill>
                <a:latin typeface="Arial"/>
              </a:rPr>
              <a:t xml:space="preserve">Original ELF</a:t>
            </a:r>
            <a:endParaRPr lang="en-US" sz="1900"/>
          </a:p>
        </p:txBody>
      </p:sp>
      <p:sp>
        <p:nvSpPr>
          <p:cNvPr id="7" name="→"/>
          <p:cNvSpPr txBox="1"/>
          <p:nvPr/>
        </p:nvSpPr>
        <p:spPr>
          <a:xfrm>
            <a:off x="2755900" y="1409700"/>
            <a:ext cx="5461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500" b="0" i="0">
                <a:solidFill>
                  <a:srgbClr val="18A79C"/>
                </a:solidFill>
                <a:latin typeface="Arial"/>
              </a:rPr>
              <a:t xml:space="preserve">→</a:t>
            </a:r>
            <a:endParaRPr lang="en-US" sz="2500"/>
          </a:p>
        </p:txBody>
      </p:sp>
      <p:sp>
        <p:nvSpPr>
          <p:cNvPr id="8" name="IR snapshots / patch"/>
          <p:cNvSpPr txBox="1"/>
          <p:nvPr/>
        </p:nvSpPr>
        <p:spPr>
          <a:xfrm>
            <a:off x="3302000" y="1422400"/>
            <a:ext cx="27305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00" b="1" i="0">
                <a:solidFill>
                  <a:srgbClr val="172333"/>
                </a:solidFill>
                <a:latin typeface="Arial"/>
              </a:rPr>
              <a:t xml:space="preserve">IR snapshots / patch</a:t>
            </a:r>
            <a:endParaRPr lang="en-US" sz="1900"/>
          </a:p>
        </p:txBody>
      </p:sp>
      <p:sp>
        <p:nvSpPr>
          <p:cNvPr id="9" name="→"/>
          <p:cNvSpPr txBox="1"/>
          <p:nvPr/>
        </p:nvSpPr>
        <p:spPr>
          <a:xfrm>
            <a:off x="6045200" y="1409700"/>
            <a:ext cx="5334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500" b="0" i="0">
                <a:solidFill>
                  <a:srgbClr val="18A79C"/>
                </a:solidFill>
                <a:latin typeface="Arial"/>
              </a:rPr>
              <a:t xml:space="preserve">→</a:t>
            </a:r>
            <a:endParaRPr lang="en-US" sz="2500"/>
          </a:p>
        </p:txBody>
      </p:sp>
      <p:sp>
        <p:nvSpPr>
          <p:cNvPr id="10" name="New revision or file"/>
          <p:cNvSpPr txBox="1"/>
          <p:nvPr/>
        </p:nvSpPr>
        <p:spPr>
          <a:xfrm>
            <a:off x="6578600" y="1422400"/>
            <a:ext cx="21209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New revision or file</a:t>
            </a:r>
            <a:endParaRPr lang="en-US" sz="1800"/>
          </a:p>
        </p:txBody>
      </p:sp>
      <p:sp>
        <p:nvSpPr>
          <p:cNvPr id="11" name="Rectangle"/>
          <p:cNvSpPr/>
          <p:nvPr/>
        </p:nvSpPr>
        <p:spPr>
          <a:xfrm>
            <a:off x="584200" y="2209800"/>
            <a:ext cx="7975600" cy="25400"/>
          </a:xfrm>
          <a:prstGeom prst="rect">
            <a:avLst/>
          </a:prstGeom>
          <a:solidFill>
            <a:srgbClr val="D6DFE7"/>
          </a:solidFill>
          <a:ln>
            <a:noFill/>
          </a:ln>
        </p:spPr>
      </p:sp>
      <p:sp>
        <p:nvSpPr>
          <p:cNvPr id="12" name="Named pass experiments retain ra"/>
          <p:cNvSpPr txBox="1"/>
          <p:nvPr/>
        </p:nvSpPr>
        <p:spPr>
          <a:xfrm>
            <a:off x="647700" y="2667000"/>
            <a:ext cx="7759700" cy="1193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516173"/>
                </a:solidFill>
                <a:latin typeface="Arial"/>
              </a:rPr>
              <a:t xml:space="preserve">Named pass experiments retain raw, before, and after IR. Remote edits create new project revisions. Local patches and rebuilds write new outputs.</a:t>
            </a:r>
            <a:endParaRPr lang="en-US" sz="1700"/>
          </a:p>
        </p:txBody>
      </p:sp>
      <p:sp>
        <p:nvSpPr>
          <p:cNvPr id="13" name="Analyst comments and assumptions"/>
          <p:cNvSpPr txBox="1"/>
          <p:nvPr/>
        </p:nvSpPr>
        <p:spPr>
          <a:xfrm>
            <a:off x="647700" y="4025900"/>
            <a:ext cx="77216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18A79C"/>
                </a:solidFill>
                <a:latin typeface="Arial"/>
              </a:rPr>
              <a:t xml:space="preserve">Analyst comments and assumptions are labelled unverified.</a:t>
            </a:r>
            <a:endParaRPr lang="en-US" sz="1650"/>
          </a:p>
        </p:txBody>
      </p:sp>
      <p:sp>
        <p:nvSpPr>
          <p:cNvPr id="14" name="Source: README.md; crates/hydir-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README.md; crates/hydir-transform/src/lib.rs.</a:t>
            </a:r>
            <a:endParaRPr lang="en-US" sz="9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A bounded whole-executable path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A bounded whole-executable path</a:t>
            </a:r>
            <a:endParaRPr lang="en-US" sz="2300"/>
          </a:p>
        </p:txBody>
      </p:sp>
      <p:sp>
        <p:nvSpPr>
          <p:cNvPr id="5" name="20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20</a:t>
            </a:r>
            <a:endParaRPr lang="en-US" sz="1000"/>
          </a:p>
        </p:txBody>
      </p:sp>
      <p:sp>
        <p:nvSpPr>
          <p:cNvPr id="6" name="3"/>
          <p:cNvSpPr txBox="1"/>
          <p:nvPr/>
        </p:nvSpPr>
        <p:spPr>
          <a:xfrm>
            <a:off x="533400" y="1320800"/>
            <a:ext cx="1600200" cy="1054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5800" b="0" i="0">
                <a:solidFill>
                  <a:srgbClr val="172333"/>
                </a:solidFill>
                <a:latin typeface="Arial"/>
              </a:rPr>
              <a:t xml:space="preserve">3</a:t>
            </a:r>
            <a:endParaRPr lang="en-US" sz="5800"/>
          </a:p>
        </p:txBody>
      </p:sp>
      <p:sp>
        <p:nvSpPr>
          <p:cNvPr id="7" name="trusted static ELFs"/>
          <p:cNvSpPr txBox="1"/>
          <p:nvPr/>
        </p:nvSpPr>
        <p:spPr>
          <a:xfrm>
            <a:off x="469900" y="2387600"/>
            <a:ext cx="18542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600" b="0" i="0">
                <a:solidFill>
                  <a:srgbClr val="516173"/>
                </a:solidFill>
                <a:latin typeface="Arial"/>
              </a:rPr>
              <a:t xml:space="preserve">trusted static ELFs</a:t>
            </a:r>
            <a:endParaRPr lang="en-US" sz="1600"/>
          </a:p>
        </p:txBody>
      </p:sp>
      <p:sp>
        <p:nvSpPr>
          <p:cNvPr id="8" name="→"/>
          <p:cNvSpPr txBox="1"/>
          <p:nvPr/>
        </p:nvSpPr>
        <p:spPr>
          <a:xfrm>
            <a:off x="2298700" y="1803400"/>
            <a:ext cx="69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800" b="0" i="0">
                <a:solidFill>
                  <a:srgbClr val="18A79C"/>
                </a:solidFill>
                <a:latin typeface="Arial"/>
              </a:rPr>
              <a:t xml:space="preserve">→</a:t>
            </a:r>
            <a:endParaRPr lang="en-US" sz="2800"/>
          </a:p>
        </p:txBody>
      </p:sp>
      <p:sp>
        <p:nvSpPr>
          <p:cNvPr id="9" name="decoded .text + runtime"/>
          <p:cNvSpPr txBox="1"/>
          <p:nvPr/>
        </p:nvSpPr>
        <p:spPr>
          <a:xfrm>
            <a:off x="3022600" y="17907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decoded .text + runtime</a:t>
            </a:r>
            <a:endParaRPr lang="en-US" sz="1800"/>
          </a:p>
        </p:txBody>
      </p:sp>
      <p:sp>
        <p:nvSpPr>
          <p:cNvPr id="10" name="→"/>
          <p:cNvSpPr txBox="1"/>
          <p:nvPr/>
        </p:nvSpPr>
        <p:spPr>
          <a:xfrm>
            <a:off x="6070600" y="1803400"/>
            <a:ext cx="685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800" b="0" i="0">
                <a:solidFill>
                  <a:srgbClr val="18A79C"/>
                </a:solidFill>
                <a:latin typeface="Arial"/>
              </a:rPr>
              <a:t xml:space="preserve">→</a:t>
            </a:r>
            <a:endParaRPr lang="en-US" sz="2800"/>
          </a:p>
        </p:txBody>
      </p:sp>
      <p:sp>
        <p:nvSpPr>
          <p:cNvPr id="11" name="5"/>
          <p:cNvSpPr txBox="1"/>
          <p:nvPr/>
        </p:nvSpPr>
        <p:spPr>
          <a:xfrm>
            <a:off x="6883400" y="1320800"/>
            <a:ext cx="1625600" cy="1054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5800" b="0" i="0">
                <a:solidFill>
                  <a:srgbClr val="172333"/>
                </a:solidFill>
                <a:latin typeface="Arial"/>
              </a:rPr>
              <a:t xml:space="preserve">5</a:t>
            </a:r>
            <a:endParaRPr lang="en-US" sz="5800"/>
          </a:p>
        </p:txBody>
      </p:sp>
      <p:sp>
        <p:nvSpPr>
          <p:cNvPr id="12" name="controlled executions"/>
          <p:cNvSpPr txBox="1"/>
          <p:nvPr/>
        </p:nvSpPr>
        <p:spPr>
          <a:xfrm>
            <a:off x="6743700" y="2387600"/>
            <a:ext cx="19431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600" b="0" i="0">
                <a:solidFill>
                  <a:srgbClr val="516173"/>
                </a:solidFill>
                <a:latin typeface="Arial"/>
              </a:rPr>
              <a:t xml:space="preserve">controlled executions</a:t>
            </a:r>
            <a:endParaRPr lang="en-US" sz="1600"/>
          </a:p>
        </p:txBody>
      </p:sp>
      <p:sp>
        <p:nvSpPr>
          <p:cNvPr id="13" name="The demo compares stdout, stderr"/>
          <p:cNvSpPr txBox="1"/>
          <p:nvPr/>
        </p:nvSpPr>
        <p:spPr>
          <a:xfrm>
            <a:off x="711200" y="3556000"/>
            <a:ext cx="7708900" cy="96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0">
                <a:solidFill>
                  <a:srgbClr val="516173"/>
                </a:solidFill>
                <a:latin typeface="Arial"/>
              </a:rPr>
              <a:t xml:space="preserve">The demo compares stdout, stderr, and exit status. Unsupported instructions and OS behavior are rejected. This is not general ELF recompilation.</a:t>
            </a:r>
            <a:endParaRPr lang="en-US" sz="1650"/>
          </a:p>
        </p:txBody>
      </p:sp>
      <p:sp>
        <p:nvSpPr>
          <p:cNvPr id="14" name="Source: README.md, demo-recompil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README.md, demo-recompile.sh description.</a:t>
            </a:r>
            <a:endParaRPr lang="en-US" sz="9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A concrete showcase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A concrete showcase</a:t>
            </a:r>
            <a:endParaRPr lang="en-US" sz="2300"/>
          </a:p>
        </p:txBody>
      </p:sp>
      <p:sp>
        <p:nvSpPr>
          <p:cNvPr id="5" name="21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21</a:t>
            </a:r>
            <a:endParaRPr lang="en-US" sz="1000"/>
          </a:p>
        </p:txBody>
      </p:sp>
      <p:sp>
        <p:nvSpPr>
          <p:cNvPr id="6" name="HYDR"/>
          <p:cNvSpPr txBox="1"/>
          <p:nvPr/>
        </p:nvSpPr>
        <p:spPr>
          <a:xfrm>
            <a:off x="546100" y="1320800"/>
            <a:ext cx="2565400" cy="736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3200" b="1" i="0">
                <a:solidFill>
                  <a:srgbClr val="172333"/>
                </a:solidFill>
                <a:latin typeface="Consolas"/>
              </a:rPr>
              <a:t xml:space="preserve">HYDR</a:t>
            </a:r>
            <a:endParaRPr lang="en-US" sz="3200"/>
          </a:p>
        </p:txBody>
      </p:sp>
      <p:sp>
        <p:nvSpPr>
          <p:cNvPr id="7" name="original"/>
          <p:cNvSpPr txBox="1"/>
          <p:nvPr/>
        </p:nvSpPr>
        <p:spPr>
          <a:xfrm>
            <a:off x="546100" y="2120900"/>
            <a:ext cx="2565400" cy="368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0" i="0">
                <a:solidFill>
                  <a:srgbClr val="516173"/>
                </a:solidFill>
                <a:latin typeface="Arial"/>
              </a:rPr>
              <a:t xml:space="preserve">original</a:t>
            </a:r>
            <a:endParaRPr lang="en-US" sz="1400"/>
          </a:p>
        </p:txBody>
      </p:sp>
      <p:sp>
        <p:nvSpPr>
          <p:cNvPr id="8" name="ACCESS GRANTED"/>
          <p:cNvSpPr txBox="1"/>
          <p:nvPr/>
        </p:nvSpPr>
        <p:spPr>
          <a:xfrm>
            <a:off x="482600" y="279400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1" i="0">
                <a:solidFill>
                  <a:srgbClr val="18A79C"/>
                </a:solidFill>
                <a:latin typeface="Arial"/>
              </a:rPr>
              <a:t xml:space="preserve">ACCESS GRANTED</a:t>
            </a:r>
            <a:endParaRPr lang="en-US" sz="1800"/>
          </a:p>
        </p:txBody>
      </p:sp>
      <p:sp>
        <p:nvSpPr>
          <p:cNvPr id="9" name="Rectangle"/>
          <p:cNvSpPr/>
          <p:nvPr/>
        </p:nvSpPr>
        <p:spPr>
          <a:xfrm>
            <a:off x="3441700" y="1320800"/>
            <a:ext cx="25400" cy="2082800"/>
          </a:xfrm>
          <a:prstGeom prst="rect">
            <a:avLst/>
          </a:prstGeom>
          <a:solidFill>
            <a:srgbClr val="D7E0E7"/>
          </a:solidFill>
          <a:ln>
            <a:noFill/>
          </a:ln>
        </p:spPr>
      </p:sp>
      <p:sp>
        <p:nvSpPr>
          <p:cNvPr id="10" name="same input"/>
          <p:cNvSpPr txBox="1"/>
          <p:nvPr/>
        </p:nvSpPr>
        <p:spPr>
          <a:xfrm>
            <a:off x="3543300" y="1435100"/>
            <a:ext cx="21463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00" b="0" i="0">
                <a:solidFill>
                  <a:srgbClr val="172333"/>
                </a:solidFill>
                <a:latin typeface="Arial"/>
              </a:rPr>
              <a:t xml:space="preserve">same input</a:t>
            </a:r>
            <a:endParaRPr lang="en-US" sz="1900"/>
          </a:p>
        </p:txBody>
      </p:sp>
      <p:sp>
        <p:nvSpPr>
          <p:cNvPr id="11" name="after scalar patch"/>
          <p:cNvSpPr txBox="1"/>
          <p:nvPr/>
        </p:nvSpPr>
        <p:spPr>
          <a:xfrm>
            <a:off x="3543300" y="2120900"/>
            <a:ext cx="2146300" cy="368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0" i="0">
                <a:solidFill>
                  <a:srgbClr val="516173"/>
                </a:solidFill>
                <a:latin typeface="Arial"/>
              </a:rPr>
              <a:t xml:space="preserve">after scalar patch</a:t>
            </a:r>
            <a:endParaRPr lang="en-US" sz="1400"/>
          </a:p>
        </p:txBody>
      </p:sp>
      <p:sp>
        <p:nvSpPr>
          <p:cNvPr id="12" name="ACCESS DENIED"/>
          <p:cNvSpPr txBox="1"/>
          <p:nvPr/>
        </p:nvSpPr>
        <p:spPr>
          <a:xfrm>
            <a:off x="3530600" y="2794000"/>
            <a:ext cx="22479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1" i="0">
                <a:solidFill>
                  <a:srgbClr val="B2694B"/>
                </a:solidFill>
                <a:latin typeface="Arial"/>
              </a:rPr>
              <a:t xml:space="preserve">ACCESS DENIED</a:t>
            </a:r>
            <a:endParaRPr lang="en-US" sz="1800"/>
          </a:p>
        </p:txBody>
      </p:sp>
      <p:sp>
        <p:nvSpPr>
          <p:cNvPr id="13" name="Rectangle"/>
          <p:cNvSpPr/>
          <p:nvPr/>
        </p:nvSpPr>
        <p:spPr>
          <a:xfrm>
            <a:off x="5956300" y="1320800"/>
            <a:ext cx="25400" cy="2082800"/>
          </a:xfrm>
          <a:prstGeom prst="rect">
            <a:avLst/>
          </a:prstGeom>
          <a:solidFill>
            <a:srgbClr val="D7E0E7"/>
          </a:solidFill>
          <a:ln>
            <a:noFill/>
          </a:ln>
        </p:spPr>
      </p:sp>
      <p:sp>
        <p:nvSpPr>
          <p:cNvPr id="14" name="rebuilt"/>
          <p:cNvSpPr txBox="1"/>
          <p:nvPr/>
        </p:nvSpPr>
        <p:spPr>
          <a:xfrm>
            <a:off x="6223000" y="14351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900" b="0" i="0">
                <a:solidFill>
                  <a:srgbClr val="172333"/>
                </a:solidFill>
                <a:latin typeface="Arial"/>
              </a:rPr>
              <a:t xml:space="preserve">rebuilt</a:t>
            </a:r>
            <a:endParaRPr lang="en-US" sz="1900"/>
          </a:p>
        </p:txBody>
      </p:sp>
      <p:sp>
        <p:nvSpPr>
          <p:cNvPr id="15" name="HYDR + NOPE"/>
          <p:cNvSpPr txBox="1"/>
          <p:nvPr/>
        </p:nvSpPr>
        <p:spPr>
          <a:xfrm>
            <a:off x="6223000" y="2120900"/>
            <a:ext cx="2349500" cy="368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400" b="0" i="0">
                <a:solidFill>
                  <a:srgbClr val="516173"/>
                </a:solidFill>
                <a:latin typeface="Arial"/>
              </a:rPr>
              <a:t xml:space="preserve">HYDR + NOPE</a:t>
            </a:r>
            <a:endParaRPr lang="en-US" sz="1400"/>
          </a:p>
        </p:txBody>
      </p:sp>
      <p:sp>
        <p:nvSpPr>
          <p:cNvPr id="16" name="matches original"/>
          <p:cNvSpPr txBox="1"/>
          <p:nvPr/>
        </p:nvSpPr>
        <p:spPr>
          <a:xfrm>
            <a:off x="6134100" y="2794000"/>
            <a:ext cx="25146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1" i="0">
                <a:solidFill>
                  <a:srgbClr val="18A79C"/>
                </a:solidFill>
                <a:latin typeface="Arial"/>
              </a:rPr>
              <a:t xml:space="preserve">matches original</a:t>
            </a:r>
            <a:endParaRPr lang="en-US" sz="1800"/>
          </a:p>
        </p:txBody>
      </p:sp>
      <p:sp>
        <p:nvSpPr>
          <p:cNvPr id="17" name="The showcase script checks these"/>
          <p:cNvSpPr txBox="1"/>
          <p:nvPr/>
        </p:nvSpPr>
        <p:spPr>
          <a:xfrm>
            <a:off x="596900" y="3784600"/>
            <a:ext cx="80010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80" b="0" i="0">
                <a:solidFill>
                  <a:srgbClr val="516173"/>
                </a:solidFill>
                <a:latin typeface="Arial"/>
              </a:rPr>
              <a:t xml:space="preserve">The showcase script checks these cases on a trusted fixture; the access phrase is a demo, not an authentication system.</a:t>
            </a:r>
            <a:endParaRPr lang="en-US" sz="1580"/>
          </a:p>
        </p:txBody>
      </p:sp>
      <p:sp>
        <p:nvSpPr>
          <p:cNvPr id="18" name="Source: scripts/demo-showcase.sh"/>
          <p:cNvSpPr txBox="1"/>
          <p:nvPr/>
        </p:nvSpPr>
        <p:spPr>
          <a:xfrm>
            <a:off x="444500" y="46863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20" b="0" i="0">
                <a:solidFill>
                  <a:srgbClr val="718093"/>
                </a:solidFill>
                <a:latin typeface="Arial"/>
              </a:rPr>
              <a:t xml:space="preserve">Source: scripts/demo-showcase.sh; tests/fixtures/hydir_showcase.S.</a:t>
            </a:r>
            <a:endParaRPr lang="en-US" sz="92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C2E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0" y="0"/>
            <a:ext cx="88900" cy="51435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22"/>
          <p:cNvSpPr txBox="1"/>
          <p:nvPr/>
        </p:nvSpPr>
        <p:spPr>
          <a:xfrm>
            <a:off x="8394700" y="47117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192A5"/>
                </a:solidFill>
                <a:latin typeface="Arial"/>
              </a:rPr>
              <a:t xml:space="preserve">22</a:t>
            </a:r>
            <a:endParaRPr lang="en-US" sz="1000"/>
          </a:p>
        </p:txBody>
      </p:sp>
      <p:sp>
        <p:nvSpPr>
          <p:cNvPr id="5" name="Where HydIR stops today"/>
          <p:cNvSpPr txBox="1"/>
          <p:nvPr/>
        </p:nvSpPr>
        <p:spPr>
          <a:xfrm>
            <a:off x="533400" y="749300"/>
            <a:ext cx="7899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000" b="0" i="0">
                <a:solidFill>
                  <a:srgbClr val="FFFFFF"/>
                </a:solidFill>
                <a:latin typeface="Arial"/>
              </a:rPr>
              <a:t xml:space="preserve">Where HydIR stops today</a:t>
            </a:r>
            <a:endParaRPr lang="en-US" sz="3000"/>
          </a:p>
        </p:txBody>
      </p:sp>
      <p:sp>
        <p:nvSpPr>
          <p:cNvPr id="6" name="No automatic stripped-code disco"/>
          <p:cNvSpPr txBox="1"/>
          <p:nvPr/>
        </p:nvSpPr>
        <p:spPr>
          <a:xfrm>
            <a:off x="609600" y="1816100"/>
            <a:ext cx="7480300" cy="444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 i="0">
                <a:solidFill>
                  <a:srgbClr val="D7E3EB"/>
                </a:solidFill>
                <a:latin typeface="Arial"/>
              </a:rPr>
              <a:t xml:space="preserve">No automatic stripped-code discovery</a:t>
            </a:r>
            <a:endParaRPr lang="en-US" sz="1800"/>
          </a:p>
        </p:txBody>
      </p:sp>
      <p:sp>
        <p:nvSpPr>
          <p:cNvPr id="7" name="No high-level structured C recov"/>
          <p:cNvSpPr txBox="1"/>
          <p:nvPr/>
        </p:nvSpPr>
        <p:spPr>
          <a:xfrm>
            <a:off x="609600" y="2451100"/>
            <a:ext cx="7480300" cy="444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 i="0">
                <a:solidFill>
                  <a:srgbClr val="D7E3EB"/>
                </a:solidFill>
                <a:latin typeface="Arial"/>
              </a:rPr>
              <a:t xml:space="preserve">No high-level structured C recovery</a:t>
            </a:r>
            <a:endParaRPr lang="en-US" sz="1800"/>
          </a:p>
        </p:txBody>
      </p:sp>
      <p:sp>
        <p:nvSpPr>
          <p:cNvPr id="8" name="No general hostile-binary sandbo"/>
          <p:cNvSpPr txBox="1"/>
          <p:nvPr/>
        </p:nvSpPr>
        <p:spPr>
          <a:xfrm>
            <a:off x="609600" y="3086100"/>
            <a:ext cx="77216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 i="0">
                <a:solidFill>
                  <a:srgbClr val="D7E3EB"/>
                </a:solidFill>
                <a:latin typeface="Arial"/>
              </a:rPr>
              <a:t xml:space="preserve">No general hostile-binary sandbox or equivalence proof</a:t>
            </a:r>
            <a:endParaRPr lang="en-US" sz="1800"/>
          </a:p>
        </p:txBody>
      </p:sp>
      <p:sp>
        <p:nvSpPr>
          <p:cNvPr id="9" name="Rectangle"/>
          <p:cNvSpPr/>
          <p:nvPr/>
        </p:nvSpPr>
        <p:spPr>
          <a:xfrm>
            <a:off x="622300" y="4013200"/>
            <a:ext cx="7874000" cy="254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10" name="The current value is a tested, i"/>
          <p:cNvSpPr txBox="1"/>
          <p:nvPr/>
        </p:nvSpPr>
        <p:spPr>
          <a:xfrm>
            <a:off x="635000" y="4178300"/>
            <a:ext cx="76581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B8C6D2"/>
                </a:solidFill>
                <a:latin typeface="Arial"/>
              </a:rPr>
              <a:t xml:space="preserve">The current value is a tested, inspectable vertical slice with explicit rejection.</a:t>
            </a:r>
            <a:endParaRPr lang="en-US" sz="15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431800" y="342900"/>
            <a:ext cx="38100" cy="393700"/>
          </a:xfrm>
          <a:prstGeom prst="rect">
            <a:avLst/>
          </a:prstGeom>
          <a:solidFill>
            <a:srgbClr val="18A79C"/>
          </a:solidFill>
          <a:ln>
            <a:noFill/>
          </a:ln>
        </p:spPr>
      </p:sp>
      <p:sp>
        <p:nvSpPr>
          <p:cNvPr id="4" name="Sources and discussion"/>
          <p:cNvSpPr txBox="1"/>
          <p:nvPr/>
        </p:nvSpPr>
        <p:spPr>
          <a:xfrm>
            <a:off x="622300" y="3683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300" b="0" i="0">
                <a:solidFill>
                  <a:srgbClr val="172333"/>
                </a:solidFill>
                <a:latin typeface="Arial"/>
              </a:rPr>
              <a:t xml:space="preserve">Sources and discussion</a:t>
            </a:r>
            <a:endParaRPr lang="en-US" sz="2300"/>
          </a:p>
        </p:txBody>
      </p:sp>
      <p:sp>
        <p:nvSpPr>
          <p:cNvPr id="5" name="23"/>
          <p:cNvSpPr txBox="1"/>
          <p:nvPr/>
        </p:nvSpPr>
        <p:spPr>
          <a:xfrm>
            <a:off x="8432800" y="4711700"/>
            <a:ext cx="3175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1000" b="0" i="0">
                <a:solidFill>
                  <a:srgbClr val="8A96A3"/>
                </a:solidFill>
                <a:latin typeface="Arial"/>
              </a:rPr>
              <a:t xml:space="preserve">23</a:t>
            </a:r>
            <a:endParaRPr lang="en-US" sz="1000"/>
          </a:p>
        </p:txBody>
      </p:sp>
      <p:sp>
        <p:nvSpPr>
          <p:cNvPr id="6" name="Project evidence"/>
          <p:cNvSpPr txBox="1"/>
          <p:nvPr/>
        </p:nvSpPr>
        <p:spPr>
          <a:xfrm>
            <a:off x="558800" y="1206500"/>
            <a:ext cx="2984500" cy="393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Project evidence</a:t>
            </a:r>
            <a:endParaRPr lang="en-US" sz="1800"/>
          </a:p>
        </p:txBody>
      </p:sp>
      <p:sp>
        <p:nvSpPr>
          <p:cNvPr id="7" name="README.md tests/fixtures/max2.S "/>
          <p:cNvSpPr txBox="1"/>
          <p:nvPr/>
        </p:nvSpPr>
        <p:spPr>
          <a:xfrm>
            <a:off x="558800" y="1739900"/>
            <a:ext cx="3467100" cy="248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60" b="0" i="0">
                <a:solidFill>
                  <a:srgbClr val="516173"/>
                </a:solidFill>
                <a:latin typeface="Arial"/>
              </a:rPr>
              <a:t xml:space="preserve">README.md</a:t>
            </a:r>
            <a:endParaRPr lang="en-US" sz="1560"/>
          </a:p>
          <a:p>
            <a:pPr algn="l"/>
            <a:r>
              <a:rPr lang="en-US" sz="1560" b="0" i="0">
                <a:solidFill>
                  <a:srgbClr val="516173"/>
                </a:solidFill>
                <a:latin typeface="Arial"/>
              </a:rPr>
              <a:t xml:space="preserve">tests/fixtures/max2.S</a:t>
            </a:r>
            <a:endParaRPr lang="en-US" sz="1560"/>
          </a:p>
          <a:p>
            <a:pPr algn="l"/>
            <a:r>
              <a:rPr lang="en-US" sz="1560" b="0" i="0">
                <a:solidFill>
                  <a:srgbClr val="516173"/>
                </a:solidFill>
                <a:latin typeface="Arial"/>
              </a:rPr>
              <a:t xml:space="preserve">target/demo-showcase/max2.ll</a:t>
            </a:r>
            <a:endParaRPr lang="en-US" sz="1560"/>
          </a:p>
          <a:p>
            <a:pPr algn="l"/>
            <a:r>
              <a:rPr lang="en-US" sz="1560" b="0" i="0">
                <a:solidFill>
                  <a:srgbClr val="516173"/>
                </a:solidFill>
                <a:latin typeface="Arial"/>
              </a:rPr>
              <a:t xml:space="preserve">scripts/demo-passes.sh</a:t>
            </a:r>
            <a:endParaRPr lang="en-US" sz="1560"/>
          </a:p>
          <a:p>
            <a:pPr algn="l"/>
            <a:r>
              <a:rPr lang="en-US" sz="1560" b="0" i="0">
                <a:solidFill>
                  <a:srgbClr val="516173"/>
                </a:solidFill>
                <a:latin typeface="Arial"/>
              </a:rPr>
              <a:t xml:space="preserve">scripts/demo-showcase.sh</a:t>
            </a:r>
            <a:endParaRPr lang="en-US" sz="1560"/>
          </a:p>
        </p:txBody>
      </p:sp>
      <p:sp>
        <p:nvSpPr>
          <p:cNvPr id="8" name="Reading"/>
          <p:cNvSpPr txBox="1"/>
          <p:nvPr/>
        </p:nvSpPr>
        <p:spPr>
          <a:xfrm>
            <a:off x="4902200" y="1206500"/>
            <a:ext cx="3009900" cy="393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172333"/>
                </a:solidFill>
                <a:latin typeface="Arial"/>
              </a:rPr>
              <a:t xml:space="preserve">Reading</a:t>
            </a:r>
            <a:endParaRPr lang="en-US" sz="1800"/>
          </a:p>
        </p:txBody>
      </p:sp>
      <p:sp>
        <p:nvSpPr>
          <p:cNvPr id="9" name="mrexodia, Striga: Lifting x86 to"/>
          <p:cNvSpPr txBox="1"/>
          <p:nvPr/>
        </p:nvSpPr>
        <p:spPr>
          <a:xfrm>
            <a:off x="4902200" y="1739900"/>
            <a:ext cx="3733800" cy="248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10" b="0" i="0">
                <a:solidFill>
                  <a:srgbClr val="516173"/>
                </a:solidFill>
                <a:latin typeface="Arial"/>
              </a:rPr>
              <a:t xml:space="preserve">mrexodia, Striga: Lifting x86 to LLVM IR with Python</a:t>
            </a:r>
            <a:endParaRPr lang="en-US" sz="1510"/>
          </a:p>
          <a:p>
            <a:pPr algn="l"/>
            <a:r>
              <a:rPr lang="en-US" sz="1510" b="0" i="0">
                <a:solidFill>
                  <a:srgbClr val="516173"/>
                </a:solidFill>
                <a:latin typeface="Arial"/>
              </a:rPr>
              <a:t xml:space="preserve">secret.club/2026/05/21/striga.html</a:t>
            </a:r>
            <a:endParaRPr lang="en-US" sz="1510"/>
          </a:p>
          <a:p>
            <a:pPr algn="l"/>
            <a:r>
              <a:rPr lang="en-US" sz="1510" b="0" i="0">
                <a:solidFill>
                  <a:srgbClr val="516173"/>
                </a:solidFill>
                <a:latin typeface="Arial"/>
              </a:rPr>
              <a:t xml:space="preserve"/>
            </a:r>
            <a:endParaRPr lang="en-US" sz="1510"/>
          </a:p>
          <a:p>
            <a:pPr algn="l"/>
            <a:r>
              <a:rPr lang="en-US" sz="1510" b="0" i="0">
                <a:solidFill>
                  <a:srgbClr val="516173"/>
                </a:solidFill>
                <a:latin typeface="Arial"/>
              </a:rPr>
              <a:t xml:space="preserve">LLVM Language Reference and Passes</a:t>
            </a:r>
            <a:endParaRPr lang="en-US" sz="1510"/>
          </a:p>
          <a:p>
            <a:pPr algn="l"/>
            <a:r>
              <a:rPr lang="en-US" sz="1510" b="0" i="0">
                <a:solidFill>
                  <a:srgbClr val="516173"/>
                </a:solidFill>
                <a:latin typeface="Arial"/>
              </a:rPr>
              <a:t xml:space="preserve">llvm.org/docs/</a:t>
            </a:r>
            <a:endParaRPr lang="en-US" sz="1510"/>
          </a:p>
        </p:txBody>
      </p:sp>
      <p:sp>
        <p:nvSpPr>
          <p:cNvPr id="10" name="HydIR is an early project. These"/>
          <p:cNvSpPr txBox="1"/>
          <p:nvPr/>
        </p:nvSpPr>
        <p:spPr>
          <a:xfrm>
            <a:off x="558800" y="4165600"/>
            <a:ext cx="79502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80" b="0" i="0">
                <a:solidFill>
                  <a:srgbClr val="18A79C"/>
                </a:solidFill>
                <a:latin typeface="Arial"/>
              </a:rPr>
              <a:t xml:space="preserve">HydIR is an early project. These slides describe the checked subset in this repository.</a:t>
            </a:r>
            <a:endParaRPr lang="en-US" sz="14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dIR">
  <a:themeElements>
    <a:clrScheme name="HydIR">
      <a:dk1>
        <a:srgbClr val="000000"/>
      </a:dk1>
      <a:lt1>
        <a:srgbClr val="FFFFFF"/>
      </a:lt1>
      <a:dk2>
        <a:srgbClr val="222222"/>
      </a:dk2>
      <a:lt2>
        <a:srgbClr val="F2F2F2"/>
      </a:lt2>
      <a:accent1>
        <a:srgbClr val="3570A0"/>
      </a:accent1>
      <a:accent2>
        <a:srgbClr val="65A6CE"/>
      </a:accent2>
      <a:accent3>
        <a:srgbClr val="4B8E72"/>
      </a:accent3>
      <a:accent4>
        <a:srgbClr val="A3926C"/>
      </a:accent4>
      <a:accent5>
        <a:srgbClr val="806CA3"/>
      </a:accent5>
      <a:accent6>
        <a:srgbClr val="B77D70"/>
      </a:accent6>
      <a:hlink>
        <a:srgbClr val="0563C1"/>
      </a:hlink>
      <a:folHlink>
        <a:srgbClr val="954F72"/>
      </a:folHlink>
    </a:clrScheme>
    <a:fontScheme name="HydIR">
      <a:majorFont>
        <a:latin typeface="Arial"/>
      </a:majorFont>
      <a:minorFont>
        <a:latin typeface="Arial"/>
      </a:minorFont>
    </a:fontScheme>
    <a:fmtScheme name="HydIR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1"/>
          </a:solidFill>
        </a:ln>
        <a:ln w="38100">
          <a:solidFill>
            <a:schemeClr val="accent1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HydIR</Application>
  <Slides>23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HydIR project presentation</dc:title>
  <dc:subject>Editable project presentation draft</dc:subject>
</cp:coreProperties>
</file>